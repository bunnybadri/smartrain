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9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1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2314960-8418-49B3-8392-863FE1F03FB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CC07DE-58D5-4415-AC30-E05FAC1F7C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66B7E1-FCA9-4687-802E-A7A7FA4AF36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1AC090-F213-4716-89A0-E064CF4BA2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137BDD-79C3-4267-A8C9-205E61793D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DE711C-4A57-49FD-83A2-5F5846B3F38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4D9B8E-7BB6-46FE-8F68-79ACC07D73F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8780E1-5920-4359-8E6B-7A2C036C72E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46403E-399A-4910-84A5-ECC9D137C81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B3639A-BA65-4006-9FF2-B32E37C6B8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ASSIC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/>
          <p:cNvSpPr/>
          <p:nvPr/>
        </p:nvSpPr>
        <p:spPr>
          <a:xfrm>
            <a:off x="502920" y="6510240"/>
            <a:ext cx="11183040" cy="360"/>
          </a:xfrm>
          <a:prstGeom prst="line">
            <a:avLst/>
          </a:prstGeom>
          <a:ln w="8890">
            <a:solidFill>
              <a:srgbClr val="C7C0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Text 1"/>
          <p:cNvSpPr/>
          <p:nvPr/>
        </p:nvSpPr>
        <p:spPr>
          <a:xfrm>
            <a:off x="530280" y="6583680"/>
            <a:ext cx="41144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0" u="none" strike="noStrike" spc="99">
                <a:solidFill>
                  <a:srgbClr val="7E786D"/>
                </a:solidFill>
                <a:effectLst/>
                <a:uFillTx/>
                <a:latin typeface="Aptos"/>
                <a:ea typeface="Aptos"/>
              </a:rPr>
              <a:t>SMARTRAIN  •  ANN + FUZZY LOGIC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 2"/>
          <p:cNvSpPr/>
          <p:nvPr/>
        </p:nvSpPr>
        <p:spPr>
          <a:xfrm>
            <a:off x="11018520" y="6583680"/>
            <a:ext cx="59400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0" u="none" strike="noStrike">
                <a:solidFill>
                  <a:srgbClr val="7E786D"/>
                </a:solidFill>
                <a:effectLst/>
                <a:uFillTx/>
                <a:latin typeface="Aptos"/>
                <a:ea typeface="Aptos"/>
              </a:rPr>
              <a:t>2026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sldNum" idx="1"/>
          </p:nvPr>
        </p:nvSpPr>
        <p:spPr>
          <a:xfrm>
            <a:off x="11685960" y="6565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7E786D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94F11B2-697B-4176-B7AA-80CF6A76CA57}" type="slidenum">
              <a:rPr lang="en-US" sz="700" b="0" u="none" strike="noStrike">
                <a:solidFill>
                  <a:srgbClr val="7E786D"/>
                </a:solidFill>
                <a:effectLst/>
                <a:uFillTx/>
                <a:latin typeface="Aptos"/>
                <a:ea typeface="Aptos"/>
              </a:rPr>
              <a:t>‹#›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621720" y="566640"/>
            <a:ext cx="2167200" cy="360"/>
          </a:xfrm>
          <a:prstGeom prst="line">
            <a:avLst/>
          </a:prstGeom>
          <a:ln w="13970">
            <a:solidFill>
              <a:srgbClr val="B38A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1"/>
          <p:cNvSpPr/>
          <p:nvPr/>
        </p:nvSpPr>
        <p:spPr>
          <a:xfrm>
            <a:off x="621719" y="713160"/>
            <a:ext cx="4145281" cy="27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spc="170" dirty="0">
                <a:solidFill>
                  <a:srgbClr val="B38A49"/>
                </a:solidFill>
                <a:effectLst/>
                <a:uFillTx/>
                <a:latin typeface="Aptos"/>
                <a:ea typeface="Aptos"/>
              </a:rPr>
              <a:t>SOFT COMPUTING PROJECT</a:t>
            </a:r>
            <a:endParaRPr lang="en-US" sz="8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2"/>
          <p:cNvSpPr/>
          <p:nvPr/>
        </p:nvSpPr>
        <p:spPr>
          <a:xfrm>
            <a:off x="621720" y="1298520"/>
            <a:ext cx="51202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SmartRain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3"/>
          <p:cNvSpPr/>
          <p:nvPr/>
        </p:nvSpPr>
        <p:spPr>
          <a:xfrm>
            <a:off x="621720" y="1993320"/>
            <a:ext cx="64004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Intelligent Rainfall Prediction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&amp; Risk Assessment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4"/>
          <p:cNvSpPr/>
          <p:nvPr/>
        </p:nvSpPr>
        <p:spPr>
          <a:xfrm>
            <a:off x="649080" y="3136320"/>
            <a:ext cx="5851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F6D5B"/>
                </a:solidFill>
                <a:effectLst/>
                <a:uFillTx/>
                <a:latin typeface="Aptos"/>
                <a:ea typeface="Aptos"/>
              </a:rPr>
              <a:t>Artificial Neural Network + Fuzzy Logic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649080" y="3602880"/>
            <a:ext cx="58518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Predict rainfall from historical weather observations and translate the prediction into an interpretable risk level.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6"/>
          <p:cNvSpPr/>
          <p:nvPr/>
        </p:nvSpPr>
        <p:spPr>
          <a:xfrm>
            <a:off x="7425000" y="914400"/>
            <a:ext cx="4050360" cy="4891680"/>
          </a:xfrm>
          <a:prstGeom prst="roundRect">
            <a:avLst>
              <a:gd name="adj" fmla="val 1806"/>
            </a:avLst>
          </a:prstGeom>
          <a:solidFill>
            <a:srgbClr val="EAE7DE"/>
          </a:solidFill>
          <a:ln w="10160">
            <a:solidFill>
              <a:srgbClr val="D5CEC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7"/>
          <p:cNvSpPr/>
          <p:nvPr/>
        </p:nvSpPr>
        <p:spPr>
          <a:xfrm>
            <a:off x="8712360" y="1703520"/>
            <a:ext cx="592200" cy="59220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8"/>
          <p:cNvSpPr/>
          <p:nvPr/>
        </p:nvSpPr>
        <p:spPr>
          <a:xfrm>
            <a:off x="9057960" y="1481400"/>
            <a:ext cx="814320" cy="81432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9"/>
          <p:cNvSpPr/>
          <p:nvPr/>
        </p:nvSpPr>
        <p:spPr>
          <a:xfrm>
            <a:off x="9576360" y="1691280"/>
            <a:ext cx="567360" cy="56736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0"/>
          <p:cNvSpPr/>
          <p:nvPr/>
        </p:nvSpPr>
        <p:spPr>
          <a:xfrm>
            <a:off x="8588880" y="1938240"/>
            <a:ext cx="1678320" cy="468720"/>
          </a:xfrm>
          <a:prstGeom prst="roundRect">
            <a:avLst>
              <a:gd name="adj" fmla="val 31579"/>
            </a:avLst>
          </a:prstGeom>
          <a:solidFill>
            <a:srgbClr val="2F6D5B"/>
          </a:solidFill>
          <a:ln w="1270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1"/>
          <p:cNvSpPr/>
          <p:nvPr/>
        </p:nvSpPr>
        <p:spPr>
          <a:xfrm rot="10800000">
            <a:off x="8577720" y="2688840"/>
            <a:ext cx="145800" cy="255600"/>
          </a:xfrm>
          <a:prstGeom prst="teardrop">
            <a:avLst>
              <a:gd name="adj" fmla="val 100000"/>
            </a:avLst>
          </a:prstGeom>
          <a:solidFill>
            <a:srgbClr val="678C9C"/>
          </a:solidFill>
          <a:ln w="12700">
            <a:solidFill>
              <a:srgbClr val="678C9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2"/>
          <p:cNvSpPr/>
          <p:nvPr/>
        </p:nvSpPr>
        <p:spPr>
          <a:xfrm rot="10800000">
            <a:off x="9007200" y="2880720"/>
            <a:ext cx="145800" cy="255600"/>
          </a:xfrm>
          <a:prstGeom prst="teardrop">
            <a:avLst>
              <a:gd name="adj" fmla="val 100000"/>
            </a:avLst>
          </a:prstGeom>
          <a:solidFill>
            <a:srgbClr val="678C9C"/>
          </a:solidFill>
          <a:ln w="12700">
            <a:solidFill>
              <a:srgbClr val="678C9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3"/>
          <p:cNvSpPr/>
          <p:nvPr/>
        </p:nvSpPr>
        <p:spPr>
          <a:xfrm rot="10800000">
            <a:off x="9437040" y="2688840"/>
            <a:ext cx="145800" cy="255600"/>
          </a:xfrm>
          <a:prstGeom prst="teardrop">
            <a:avLst>
              <a:gd name="adj" fmla="val 100000"/>
            </a:avLst>
          </a:prstGeom>
          <a:solidFill>
            <a:srgbClr val="678C9C"/>
          </a:solidFill>
          <a:ln w="12700">
            <a:solidFill>
              <a:srgbClr val="678C9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4"/>
          <p:cNvSpPr/>
          <p:nvPr/>
        </p:nvSpPr>
        <p:spPr>
          <a:xfrm>
            <a:off x="8156520" y="2962800"/>
            <a:ext cx="136800" cy="13680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5"/>
          <p:cNvSpPr/>
          <p:nvPr/>
        </p:nvSpPr>
        <p:spPr>
          <a:xfrm>
            <a:off x="8156520" y="3346560"/>
            <a:ext cx="136800" cy="13680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6"/>
          <p:cNvSpPr/>
          <p:nvPr/>
        </p:nvSpPr>
        <p:spPr>
          <a:xfrm>
            <a:off x="8156520" y="3730680"/>
            <a:ext cx="136800" cy="13680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7"/>
          <p:cNvSpPr/>
          <p:nvPr/>
        </p:nvSpPr>
        <p:spPr>
          <a:xfrm>
            <a:off x="8156520" y="4114800"/>
            <a:ext cx="136800" cy="13680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8"/>
          <p:cNvSpPr/>
          <p:nvPr/>
        </p:nvSpPr>
        <p:spPr>
          <a:xfrm>
            <a:off x="8156520" y="4498920"/>
            <a:ext cx="136800" cy="13680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9"/>
          <p:cNvSpPr/>
          <p:nvPr/>
        </p:nvSpPr>
        <p:spPr>
          <a:xfrm flipV="1">
            <a:off x="9271800" y="2834640"/>
            <a:ext cx="27360" cy="19188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0"/>
          <p:cNvSpPr/>
          <p:nvPr/>
        </p:nvSpPr>
        <p:spPr>
          <a:xfrm flipV="1">
            <a:off x="9271800" y="2834640"/>
            <a:ext cx="27360" cy="57600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1"/>
          <p:cNvSpPr/>
          <p:nvPr/>
        </p:nvSpPr>
        <p:spPr>
          <a:xfrm flipV="1">
            <a:off x="9271800" y="2834640"/>
            <a:ext cx="27360" cy="96012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22"/>
          <p:cNvSpPr/>
          <p:nvPr/>
        </p:nvSpPr>
        <p:spPr>
          <a:xfrm flipV="1">
            <a:off x="9271800" y="2834640"/>
            <a:ext cx="27360" cy="134388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3"/>
          <p:cNvSpPr/>
          <p:nvPr/>
        </p:nvSpPr>
        <p:spPr>
          <a:xfrm flipV="1">
            <a:off x="9271800" y="2834640"/>
            <a:ext cx="27360" cy="172800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4"/>
          <p:cNvSpPr/>
          <p:nvPr/>
        </p:nvSpPr>
        <p:spPr>
          <a:xfrm>
            <a:off x="9299520" y="2770560"/>
            <a:ext cx="136800" cy="13680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5"/>
          <p:cNvSpPr/>
          <p:nvPr/>
        </p:nvSpPr>
        <p:spPr>
          <a:xfrm>
            <a:off x="9271800" y="3026520"/>
            <a:ext cx="27360" cy="19188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6"/>
          <p:cNvSpPr/>
          <p:nvPr/>
        </p:nvSpPr>
        <p:spPr>
          <a:xfrm flipV="1">
            <a:off x="9271800" y="3218400"/>
            <a:ext cx="27360" cy="19224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7"/>
          <p:cNvSpPr/>
          <p:nvPr/>
        </p:nvSpPr>
        <p:spPr>
          <a:xfrm flipV="1">
            <a:off x="9271800" y="3218400"/>
            <a:ext cx="27360" cy="57636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8"/>
          <p:cNvSpPr/>
          <p:nvPr/>
        </p:nvSpPr>
        <p:spPr>
          <a:xfrm flipV="1">
            <a:off x="9271800" y="3218400"/>
            <a:ext cx="27360" cy="96012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9"/>
          <p:cNvSpPr/>
          <p:nvPr/>
        </p:nvSpPr>
        <p:spPr>
          <a:xfrm flipV="1">
            <a:off x="9271800" y="3218400"/>
            <a:ext cx="27360" cy="134424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30"/>
          <p:cNvSpPr/>
          <p:nvPr/>
        </p:nvSpPr>
        <p:spPr>
          <a:xfrm>
            <a:off x="9299520" y="3154680"/>
            <a:ext cx="136800" cy="13680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31"/>
          <p:cNvSpPr/>
          <p:nvPr/>
        </p:nvSpPr>
        <p:spPr>
          <a:xfrm>
            <a:off x="9271800" y="3026520"/>
            <a:ext cx="27360" cy="57600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32"/>
          <p:cNvSpPr/>
          <p:nvPr/>
        </p:nvSpPr>
        <p:spPr>
          <a:xfrm>
            <a:off x="9271800" y="3410640"/>
            <a:ext cx="27360" cy="19188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33"/>
          <p:cNvSpPr/>
          <p:nvPr/>
        </p:nvSpPr>
        <p:spPr>
          <a:xfrm flipV="1">
            <a:off x="9271800" y="3602520"/>
            <a:ext cx="27360" cy="19224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34"/>
          <p:cNvSpPr/>
          <p:nvPr/>
        </p:nvSpPr>
        <p:spPr>
          <a:xfrm flipV="1">
            <a:off x="9271800" y="3602520"/>
            <a:ext cx="27360" cy="57600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35"/>
          <p:cNvSpPr/>
          <p:nvPr/>
        </p:nvSpPr>
        <p:spPr>
          <a:xfrm flipV="1">
            <a:off x="9271800" y="3602520"/>
            <a:ext cx="27360" cy="96012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36"/>
          <p:cNvSpPr/>
          <p:nvPr/>
        </p:nvSpPr>
        <p:spPr>
          <a:xfrm>
            <a:off x="9299520" y="3538800"/>
            <a:ext cx="136800" cy="13680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37"/>
          <p:cNvSpPr/>
          <p:nvPr/>
        </p:nvSpPr>
        <p:spPr>
          <a:xfrm>
            <a:off x="9271800" y="3026520"/>
            <a:ext cx="27360" cy="96012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38"/>
          <p:cNvSpPr/>
          <p:nvPr/>
        </p:nvSpPr>
        <p:spPr>
          <a:xfrm>
            <a:off x="9271800" y="3410640"/>
            <a:ext cx="27360" cy="57600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39"/>
          <p:cNvSpPr/>
          <p:nvPr/>
        </p:nvSpPr>
        <p:spPr>
          <a:xfrm>
            <a:off x="9271800" y="3794760"/>
            <a:ext cx="27360" cy="19188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40"/>
          <p:cNvSpPr/>
          <p:nvPr/>
        </p:nvSpPr>
        <p:spPr>
          <a:xfrm flipV="1">
            <a:off x="9271800" y="3986640"/>
            <a:ext cx="27360" cy="19188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41"/>
          <p:cNvSpPr/>
          <p:nvPr/>
        </p:nvSpPr>
        <p:spPr>
          <a:xfrm flipV="1">
            <a:off x="9271800" y="3986640"/>
            <a:ext cx="27360" cy="57600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42"/>
          <p:cNvSpPr/>
          <p:nvPr/>
        </p:nvSpPr>
        <p:spPr>
          <a:xfrm>
            <a:off x="9299520" y="3922920"/>
            <a:ext cx="136800" cy="13680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43"/>
          <p:cNvSpPr/>
          <p:nvPr/>
        </p:nvSpPr>
        <p:spPr>
          <a:xfrm>
            <a:off x="9271800" y="3026520"/>
            <a:ext cx="27360" cy="134424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44"/>
          <p:cNvSpPr/>
          <p:nvPr/>
        </p:nvSpPr>
        <p:spPr>
          <a:xfrm>
            <a:off x="9271800" y="3410640"/>
            <a:ext cx="27360" cy="96012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45"/>
          <p:cNvSpPr/>
          <p:nvPr/>
        </p:nvSpPr>
        <p:spPr>
          <a:xfrm>
            <a:off x="9271800" y="3794760"/>
            <a:ext cx="27360" cy="57600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46"/>
          <p:cNvSpPr/>
          <p:nvPr/>
        </p:nvSpPr>
        <p:spPr>
          <a:xfrm>
            <a:off x="9271800" y="4178520"/>
            <a:ext cx="27360" cy="19224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47"/>
          <p:cNvSpPr/>
          <p:nvPr/>
        </p:nvSpPr>
        <p:spPr>
          <a:xfrm flipV="1">
            <a:off x="9271800" y="4370760"/>
            <a:ext cx="27360" cy="19188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48"/>
          <p:cNvSpPr/>
          <p:nvPr/>
        </p:nvSpPr>
        <p:spPr>
          <a:xfrm>
            <a:off x="9299520" y="4306680"/>
            <a:ext cx="136800" cy="13680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49"/>
          <p:cNvSpPr/>
          <p:nvPr/>
        </p:nvSpPr>
        <p:spPr>
          <a:xfrm>
            <a:off x="9271800" y="3026520"/>
            <a:ext cx="27360" cy="172836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50"/>
          <p:cNvSpPr/>
          <p:nvPr/>
        </p:nvSpPr>
        <p:spPr>
          <a:xfrm>
            <a:off x="9271800" y="3410640"/>
            <a:ext cx="27360" cy="134424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51"/>
          <p:cNvSpPr/>
          <p:nvPr/>
        </p:nvSpPr>
        <p:spPr>
          <a:xfrm>
            <a:off x="9271800" y="3794760"/>
            <a:ext cx="27360" cy="96012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52"/>
          <p:cNvSpPr/>
          <p:nvPr/>
        </p:nvSpPr>
        <p:spPr>
          <a:xfrm>
            <a:off x="9271800" y="4178520"/>
            <a:ext cx="27360" cy="57636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53"/>
          <p:cNvSpPr/>
          <p:nvPr/>
        </p:nvSpPr>
        <p:spPr>
          <a:xfrm>
            <a:off x="9271800" y="4562640"/>
            <a:ext cx="27360" cy="19224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54"/>
          <p:cNvSpPr/>
          <p:nvPr/>
        </p:nvSpPr>
        <p:spPr>
          <a:xfrm>
            <a:off x="9299520" y="4690800"/>
            <a:ext cx="136800" cy="13680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55"/>
          <p:cNvSpPr/>
          <p:nvPr/>
        </p:nvSpPr>
        <p:spPr>
          <a:xfrm>
            <a:off x="10460520" y="2834640"/>
            <a:ext cx="27360" cy="38376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56"/>
          <p:cNvSpPr/>
          <p:nvPr/>
        </p:nvSpPr>
        <p:spPr>
          <a:xfrm>
            <a:off x="10460520" y="3218400"/>
            <a:ext cx="27360" cy="36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57"/>
          <p:cNvSpPr/>
          <p:nvPr/>
        </p:nvSpPr>
        <p:spPr>
          <a:xfrm flipV="1">
            <a:off x="10460520" y="3218400"/>
            <a:ext cx="27360" cy="38412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58"/>
          <p:cNvSpPr/>
          <p:nvPr/>
        </p:nvSpPr>
        <p:spPr>
          <a:xfrm flipV="1">
            <a:off x="10460520" y="3218400"/>
            <a:ext cx="27360" cy="76824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59"/>
          <p:cNvSpPr/>
          <p:nvPr/>
        </p:nvSpPr>
        <p:spPr>
          <a:xfrm flipV="1">
            <a:off x="10460520" y="3218400"/>
            <a:ext cx="27360" cy="115236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60"/>
          <p:cNvSpPr/>
          <p:nvPr/>
        </p:nvSpPr>
        <p:spPr>
          <a:xfrm flipV="1">
            <a:off x="10460520" y="3218400"/>
            <a:ext cx="27360" cy="153648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61"/>
          <p:cNvSpPr/>
          <p:nvPr/>
        </p:nvSpPr>
        <p:spPr>
          <a:xfrm>
            <a:off x="10488240" y="3154680"/>
            <a:ext cx="136800" cy="136800"/>
          </a:xfrm>
          <a:prstGeom prst="ellipse">
            <a:avLst/>
          </a:prstGeom>
          <a:solidFill>
            <a:srgbClr val="B38A49"/>
          </a:solidFill>
          <a:ln w="10160">
            <a:solidFill>
              <a:srgbClr val="B38A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62"/>
          <p:cNvSpPr/>
          <p:nvPr/>
        </p:nvSpPr>
        <p:spPr>
          <a:xfrm>
            <a:off x="10460520" y="2834640"/>
            <a:ext cx="27360" cy="76788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63"/>
          <p:cNvSpPr/>
          <p:nvPr/>
        </p:nvSpPr>
        <p:spPr>
          <a:xfrm>
            <a:off x="10460520" y="3218400"/>
            <a:ext cx="27360" cy="38412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64"/>
          <p:cNvSpPr/>
          <p:nvPr/>
        </p:nvSpPr>
        <p:spPr>
          <a:xfrm>
            <a:off x="10460520" y="3602520"/>
            <a:ext cx="27360" cy="36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65"/>
          <p:cNvSpPr/>
          <p:nvPr/>
        </p:nvSpPr>
        <p:spPr>
          <a:xfrm flipV="1">
            <a:off x="10460520" y="3602520"/>
            <a:ext cx="27360" cy="38412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66"/>
          <p:cNvSpPr/>
          <p:nvPr/>
        </p:nvSpPr>
        <p:spPr>
          <a:xfrm flipV="1">
            <a:off x="10460520" y="3602520"/>
            <a:ext cx="27360" cy="76824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67"/>
          <p:cNvSpPr/>
          <p:nvPr/>
        </p:nvSpPr>
        <p:spPr>
          <a:xfrm flipV="1">
            <a:off x="10460520" y="3602520"/>
            <a:ext cx="27360" cy="115236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68"/>
          <p:cNvSpPr/>
          <p:nvPr/>
        </p:nvSpPr>
        <p:spPr>
          <a:xfrm>
            <a:off x="10488240" y="3538800"/>
            <a:ext cx="136800" cy="136800"/>
          </a:xfrm>
          <a:prstGeom prst="ellipse">
            <a:avLst/>
          </a:prstGeom>
          <a:solidFill>
            <a:srgbClr val="B38A49"/>
          </a:solidFill>
          <a:ln w="10160">
            <a:solidFill>
              <a:srgbClr val="B38A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69"/>
          <p:cNvSpPr/>
          <p:nvPr/>
        </p:nvSpPr>
        <p:spPr>
          <a:xfrm>
            <a:off x="10460520" y="2834640"/>
            <a:ext cx="27360" cy="115200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70"/>
          <p:cNvSpPr/>
          <p:nvPr/>
        </p:nvSpPr>
        <p:spPr>
          <a:xfrm>
            <a:off x="10460520" y="3218400"/>
            <a:ext cx="27360" cy="76824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71"/>
          <p:cNvSpPr/>
          <p:nvPr/>
        </p:nvSpPr>
        <p:spPr>
          <a:xfrm>
            <a:off x="10460520" y="3602520"/>
            <a:ext cx="27360" cy="38412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72"/>
          <p:cNvSpPr/>
          <p:nvPr/>
        </p:nvSpPr>
        <p:spPr>
          <a:xfrm>
            <a:off x="10460520" y="3986640"/>
            <a:ext cx="27360" cy="36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73"/>
          <p:cNvSpPr/>
          <p:nvPr/>
        </p:nvSpPr>
        <p:spPr>
          <a:xfrm flipV="1">
            <a:off x="10460520" y="3986640"/>
            <a:ext cx="27360" cy="38412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74"/>
          <p:cNvSpPr/>
          <p:nvPr/>
        </p:nvSpPr>
        <p:spPr>
          <a:xfrm flipV="1">
            <a:off x="10460520" y="3986640"/>
            <a:ext cx="27360" cy="76824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75"/>
          <p:cNvSpPr/>
          <p:nvPr/>
        </p:nvSpPr>
        <p:spPr>
          <a:xfrm>
            <a:off x="10488240" y="3922920"/>
            <a:ext cx="136800" cy="136800"/>
          </a:xfrm>
          <a:prstGeom prst="ellipse">
            <a:avLst/>
          </a:prstGeom>
          <a:solidFill>
            <a:srgbClr val="B38A49"/>
          </a:solidFill>
          <a:ln w="10160">
            <a:solidFill>
              <a:srgbClr val="B38A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76"/>
          <p:cNvSpPr/>
          <p:nvPr/>
        </p:nvSpPr>
        <p:spPr>
          <a:xfrm>
            <a:off x="10460520" y="2834640"/>
            <a:ext cx="27360" cy="153612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77"/>
          <p:cNvSpPr/>
          <p:nvPr/>
        </p:nvSpPr>
        <p:spPr>
          <a:xfrm>
            <a:off x="10460520" y="3218400"/>
            <a:ext cx="27360" cy="115236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78"/>
          <p:cNvSpPr/>
          <p:nvPr/>
        </p:nvSpPr>
        <p:spPr>
          <a:xfrm>
            <a:off x="10460520" y="3602520"/>
            <a:ext cx="27360" cy="76824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79"/>
          <p:cNvSpPr/>
          <p:nvPr/>
        </p:nvSpPr>
        <p:spPr>
          <a:xfrm>
            <a:off x="10460520" y="3986640"/>
            <a:ext cx="27360" cy="38412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80"/>
          <p:cNvSpPr/>
          <p:nvPr/>
        </p:nvSpPr>
        <p:spPr>
          <a:xfrm>
            <a:off x="10460520" y="4370760"/>
            <a:ext cx="27360" cy="36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81"/>
          <p:cNvSpPr/>
          <p:nvPr/>
        </p:nvSpPr>
        <p:spPr>
          <a:xfrm flipV="1">
            <a:off x="10460520" y="4370760"/>
            <a:ext cx="27360" cy="38412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82"/>
          <p:cNvSpPr/>
          <p:nvPr/>
        </p:nvSpPr>
        <p:spPr>
          <a:xfrm>
            <a:off x="10488240" y="4306680"/>
            <a:ext cx="136800" cy="136800"/>
          </a:xfrm>
          <a:prstGeom prst="ellipse">
            <a:avLst/>
          </a:prstGeom>
          <a:solidFill>
            <a:srgbClr val="B38A49"/>
          </a:solidFill>
          <a:ln w="10160">
            <a:solidFill>
              <a:srgbClr val="B38A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83"/>
          <p:cNvSpPr/>
          <p:nvPr/>
        </p:nvSpPr>
        <p:spPr>
          <a:xfrm>
            <a:off x="8156160" y="5148000"/>
            <a:ext cx="2706840" cy="360"/>
          </a:xfrm>
          <a:prstGeom prst="line">
            <a:avLst/>
          </a:prstGeom>
          <a:ln w="10160">
            <a:solidFill>
              <a:srgbClr val="C7C0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84"/>
          <p:cNvSpPr/>
          <p:nvPr/>
        </p:nvSpPr>
        <p:spPr>
          <a:xfrm>
            <a:off x="8065080" y="53035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WEATHER INPUTS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85"/>
          <p:cNvSpPr/>
          <p:nvPr/>
        </p:nvSpPr>
        <p:spPr>
          <a:xfrm>
            <a:off x="9345240" y="5303520"/>
            <a:ext cx="68544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2F6D5B"/>
                </a:solidFill>
                <a:effectLst/>
                <a:uFillTx/>
                <a:latin typeface="Aptos"/>
                <a:ea typeface="Aptos"/>
              </a:rPr>
              <a:t>PREDICT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86"/>
          <p:cNvSpPr/>
          <p:nvPr/>
        </p:nvSpPr>
        <p:spPr>
          <a:xfrm>
            <a:off x="10351080" y="5303520"/>
            <a:ext cx="56664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B38A49"/>
                </a:solidFill>
                <a:effectLst/>
                <a:uFillTx/>
                <a:latin typeface="Aptos"/>
                <a:ea typeface="Aptos"/>
              </a:rPr>
              <a:t>RISK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1"/>
          <p:cNvSpPr>
            <a:spLocks noGrp="1"/>
          </p:cNvSpPr>
          <p:nvPr>
            <p:ph type="sldNum" idx="5"/>
          </p:nvPr>
        </p:nvSpPr>
        <p:spPr>
          <a:xfrm>
            <a:off x="11685960" y="6565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7E786D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B0ED61F-6D7A-40DD-AAFE-7DBE28FFBE9E}" type="slidenum">
              <a:rPr lang="en-US" sz="700" b="0" u="none" strike="noStrike">
                <a:solidFill>
                  <a:srgbClr val="7E786D"/>
                </a:solidFill>
                <a:effectLst/>
                <a:uFillTx/>
                <a:latin typeface="Aptos"/>
                <a:ea typeface="Aptos"/>
              </a:rPr>
              <a:t>1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331388-819C-EFF4-F6BB-B8ED075593E3}"/>
              </a:ext>
            </a:extLst>
          </p:cNvPr>
          <p:cNvSpPr txBox="1"/>
          <p:nvPr/>
        </p:nvSpPr>
        <p:spPr>
          <a:xfrm>
            <a:off x="511340" y="4754880"/>
            <a:ext cx="52154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24BCE7540  K Lokesh Raj</a:t>
            </a:r>
          </a:p>
          <a:p>
            <a:r>
              <a:rPr lang="en-IN" dirty="0"/>
              <a:t>24BCE7595  K Chandu  </a:t>
            </a:r>
            <a:r>
              <a:rPr lang="en-IN" dirty="0" err="1"/>
              <a:t>Siddharda</a:t>
            </a:r>
            <a:endParaRPr lang="en-IN" dirty="0"/>
          </a:p>
          <a:p>
            <a:r>
              <a:rPr lang="en-IN" dirty="0"/>
              <a:t>24BCE7199  </a:t>
            </a:r>
            <a:r>
              <a:rPr lang="en-IN" dirty="0" err="1"/>
              <a:t>Potla</a:t>
            </a:r>
            <a:r>
              <a:rPr lang="en-IN" dirty="0"/>
              <a:t> Bhanu Venkata Naga Prakash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80BEAB-5E9C-4C01-CD9A-5E92A9AC94CB}"/>
              </a:ext>
            </a:extLst>
          </p:cNvPr>
          <p:cNvSpPr txBox="1"/>
          <p:nvPr/>
        </p:nvSpPr>
        <p:spPr>
          <a:xfrm>
            <a:off x="465666" y="4385548"/>
            <a:ext cx="1750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TEAM DETAILS: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9569E-513F-6FE2-BC73-C8F505C1E429}"/>
              </a:ext>
            </a:extLst>
          </p:cNvPr>
          <p:cNvSpPr txBox="1"/>
          <p:nvPr/>
        </p:nvSpPr>
        <p:spPr>
          <a:xfrm>
            <a:off x="516467" y="5806080"/>
            <a:ext cx="2214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GUIDE: </a:t>
            </a:r>
            <a:r>
              <a:rPr lang="en-US" dirty="0"/>
              <a:t>Hari Seetha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0"/>
          <p:cNvSpPr/>
          <p:nvPr/>
        </p:nvSpPr>
        <p:spPr>
          <a:xfrm>
            <a:off x="594360" y="384120"/>
            <a:ext cx="50288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 spc="150">
                <a:solidFill>
                  <a:srgbClr val="B38A49"/>
                </a:solidFill>
                <a:effectLst/>
                <a:uFillTx/>
                <a:latin typeface="Aptos"/>
                <a:ea typeface="Aptos"/>
              </a:rPr>
              <a:t>01  /  PROBLEM &amp; MOTIVATION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594360" y="667440"/>
            <a:ext cx="1088100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Rainfall is variable. A useful system must make the result understandable.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"/>
          <p:cNvSpPr/>
          <p:nvPr/>
        </p:nvSpPr>
        <p:spPr>
          <a:xfrm>
            <a:off x="612720" y="1252800"/>
            <a:ext cx="10698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Weather conditions interact in nonlinear ways, while rainfall impacts differ across regions and applications.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3"/>
          <p:cNvSpPr/>
          <p:nvPr/>
        </p:nvSpPr>
        <p:spPr>
          <a:xfrm>
            <a:off x="612720" y="1783080"/>
            <a:ext cx="3702960" cy="4160160"/>
          </a:xfrm>
          <a:prstGeom prst="roundRect">
            <a:avLst>
              <a:gd name="adj" fmla="val 1975"/>
            </a:avLst>
          </a:prstGeom>
          <a:solidFill>
            <a:srgbClr val="FBF8F1"/>
          </a:solidFill>
          <a:ln w="10160">
            <a:solidFill>
              <a:srgbClr val="C7C0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4"/>
          <p:cNvSpPr/>
          <p:nvPr/>
        </p:nvSpPr>
        <p:spPr>
          <a:xfrm>
            <a:off x="868680" y="2039040"/>
            <a:ext cx="1279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119">
                <a:solidFill>
                  <a:srgbClr val="B38A49"/>
                </a:solidFill>
                <a:effectLst/>
                <a:uFillTx/>
                <a:latin typeface="Aptos"/>
                <a:ea typeface="Aptos"/>
              </a:rPr>
              <a:t>THE PROBLEM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5"/>
          <p:cNvSpPr/>
          <p:nvPr/>
        </p:nvSpPr>
        <p:spPr>
          <a:xfrm>
            <a:off x="868680" y="2350080"/>
            <a:ext cx="29257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Prediction alone is not enough.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6"/>
          <p:cNvSpPr/>
          <p:nvPr/>
        </p:nvSpPr>
        <p:spPr>
          <a:xfrm>
            <a:off x="877680" y="2971800"/>
            <a:ext cx="255600" cy="25560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7"/>
          <p:cNvSpPr/>
          <p:nvPr/>
        </p:nvSpPr>
        <p:spPr>
          <a:xfrm>
            <a:off x="877680" y="3026520"/>
            <a:ext cx="25560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6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01</a:t>
            </a:r>
            <a:endParaRPr lang="en-US" sz="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8"/>
          <p:cNvSpPr/>
          <p:nvPr/>
        </p:nvSpPr>
        <p:spPr>
          <a:xfrm>
            <a:off x="1261800" y="2944440"/>
            <a:ext cx="26971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Rainfall depends on multiple weather variables.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9"/>
          <p:cNvSpPr/>
          <p:nvPr/>
        </p:nvSpPr>
        <p:spPr>
          <a:xfrm>
            <a:off x="877680" y="3749040"/>
            <a:ext cx="255600" cy="25560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0"/>
          <p:cNvSpPr/>
          <p:nvPr/>
        </p:nvSpPr>
        <p:spPr>
          <a:xfrm>
            <a:off x="877680" y="3803760"/>
            <a:ext cx="25560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6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1"/>
          <p:cNvSpPr/>
          <p:nvPr/>
        </p:nvSpPr>
        <p:spPr>
          <a:xfrm>
            <a:off x="1261800" y="3721680"/>
            <a:ext cx="26971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The same predicted amount can have different practical implications.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2"/>
          <p:cNvSpPr/>
          <p:nvPr/>
        </p:nvSpPr>
        <p:spPr>
          <a:xfrm>
            <a:off x="877680" y="4526280"/>
            <a:ext cx="255600" cy="25560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3"/>
          <p:cNvSpPr/>
          <p:nvPr/>
        </p:nvSpPr>
        <p:spPr>
          <a:xfrm>
            <a:off x="877680" y="4581000"/>
            <a:ext cx="25560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6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en-US" sz="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4"/>
          <p:cNvSpPr/>
          <p:nvPr/>
        </p:nvSpPr>
        <p:spPr>
          <a:xfrm>
            <a:off x="1261800" y="4498920"/>
            <a:ext cx="26971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Users need a clear risk interpretation, not only a numerical value.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5"/>
          <p:cNvSpPr/>
          <p:nvPr/>
        </p:nvSpPr>
        <p:spPr>
          <a:xfrm>
            <a:off x="868680" y="5431320"/>
            <a:ext cx="3108960" cy="360"/>
          </a:xfrm>
          <a:prstGeom prst="line">
            <a:avLst/>
          </a:prstGeom>
          <a:ln w="8890">
            <a:solidFill>
              <a:srgbClr val="C7C0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6"/>
          <p:cNvSpPr/>
          <p:nvPr/>
        </p:nvSpPr>
        <p:spPr>
          <a:xfrm>
            <a:off x="868680" y="5559480"/>
            <a:ext cx="1279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 spc="99">
                <a:solidFill>
                  <a:srgbClr val="B38A49"/>
                </a:solidFill>
                <a:effectLst/>
                <a:uFillTx/>
                <a:latin typeface="Aptos"/>
                <a:ea typeface="Aptos"/>
              </a:rPr>
              <a:t>INTENDED VALUE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7"/>
          <p:cNvSpPr/>
          <p:nvPr/>
        </p:nvSpPr>
        <p:spPr>
          <a:xfrm>
            <a:off x="1920240" y="5504760"/>
            <a:ext cx="18741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20000"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Predict • interpret • support decisions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8"/>
          <p:cNvSpPr/>
          <p:nvPr/>
        </p:nvSpPr>
        <p:spPr>
          <a:xfrm>
            <a:off x="4553640" y="1783080"/>
            <a:ext cx="6985800" cy="2880000"/>
          </a:xfrm>
          <a:prstGeom prst="roundRect">
            <a:avLst>
              <a:gd name="adj" fmla="val 2540"/>
            </a:avLst>
          </a:prstGeom>
          <a:solidFill>
            <a:srgbClr val="FBF8F1"/>
          </a:solidFill>
          <a:ln w="10160">
            <a:solidFill>
              <a:srgbClr val="C7C0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9"/>
          <p:cNvSpPr/>
          <p:nvPr/>
        </p:nvSpPr>
        <p:spPr>
          <a:xfrm>
            <a:off x="4800600" y="2011680"/>
            <a:ext cx="4297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99">
                <a:solidFill>
                  <a:srgbClr val="B38A49"/>
                </a:solidFill>
                <a:effectLst/>
                <a:uFillTx/>
                <a:latin typeface="Aptos"/>
                <a:ea typeface="Aptos"/>
              </a:rPr>
              <a:t>2025 SOUTHWEST MONSOON RAINFALL vs LPA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0"/>
          <p:cNvSpPr/>
          <p:nvPr/>
        </p:nvSpPr>
        <p:spPr>
          <a:xfrm>
            <a:off x="4800600" y="226764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Regional variation shows why location and context matter.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1"/>
          <p:cNvSpPr/>
          <p:nvPr/>
        </p:nvSpPr>
        <p:spPr>
          <a:xfrm>
            <a:off x="5074920" y="4160520"/>
            <a:ext cx="6035040" cy="360"/>
          </a:xfrm>
          <a:prstGeom prst="line">
            <a:avLst/>
          </a:prstGeom>
          <a:ln w="6985">
            <a:solidFill>
              <a:srgbClr val="DED8C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2"/>
          <p:cNvSpPr/>
          <p:nvPr/>
        </p:nvSpPr>
        <p:spPr>
          <a:xfrm>
            <a:off x="4663440" y="4096440"/>
            <a:ext cx="3196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60" b="0" u="none" strike="noStrike">
                <a:solidFill>
                  <a:srgbClr val="8D887E"/>
                </a:solidFill>
                <a:effectLst/>
                <a:uFillTx/>
                <a:latin typeface="Aptos"/>
                <a:ea typeface="Aptos"/>
              </a:rPr>
              <a:t>0%</a:t>
            </a:r>
            <a:endParaRPr lang="en-US" sz="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23"/>
          <p:cNvSpPr/>
          <p:nvPr/>
        </p:nvSpPr>
        <p:spPr>
          <a:xfrm>
            <a:off x="5074920" y="3654000"/>
            <a:ext cx="6035040" cy="360"/>
          </a:xfrm>
          <a:prstGeom prst="line">
            <a:avLst/>
          </a:prstGeom>
          <a:ln w="6985">
            <a:solidFill>
              <a:srgbClr val="DED8C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4"/>
          <p:cNvSpPr/>
          <p:nvPr/>
        </p:nvSpPr>
        <p:spPr>
          <a:xfrm>
            <a:off x="4663440" y="3590280"/>
            <a:ext cx="3196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60" b="0" u="none" strike="noStrike">
                <a:solidFill>
                  <a:srgbClr val="8D887E"/>
                </a:solidFill>
                <a:effectLst/>
                <a:uFillTx/>
                <a:latin typeface="Aptos"/>
                <a:ea typeface="Aptos"/>
              </a:rPr>
              <a:t>50%</a:t>
            </a:r>
            <a:endParaRPr lang="en-US" sz="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5"/>
          <p:cNvSpPr/>
          <p:nvPr/>
        </p:nvSpPr>
        <p:spPr>
          <a:xfrm>
            <a:off x="5074920" y="3147840"/>
            <a:ext cx="6035040" cy="360"/>
          </a:xfrm>
          <a:prstGeom prst="line">
            <a:avLst/>
          </a:prstGeom>
          <a:ln w="6985">
            <a:solidFill>
              <a:srgbClr val="DED8C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6"/>
          <p:cNvSpPr/>
          <p:nvPr/>
        </p:nvSpPr>
        <p:spPr>
          <a:xfrm>
            <a:off x="4663440" y="3084120"/>
            <a:ext cx="3196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60" b="0" u="none" strike="noStrike">
                <a:solidFill>
                  <a:srgbClr val="8D887E"/>
                </a:solidFill>
                <a:effectLst/>
                <a:uFillTx/>
                <a:latin typeface="Aptos"/>
                <a:ea typeface="Aptos"/>
              </a:rPr>
              <a:t>100%</a:t>
            </a:r>
            <a:endParaRPr lang="en-US" sz="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27"/>
          <p:cNvSpPr/>
          <p:nvPr/>
        </p:nvSpPr>
        <p:spPr>
          <a:xfrm>
            <a:off x="5074920" y="2641680"/>
            <a:ext cx="6035040" cy="360"/>
          </a:xfrm>
          <a:prstGeom prst="line">
            <a:avLst/>
          </a:prstGeom>
          <a:ln w="6985">
            <a:solidFill>
              <a:srgbClr val="DED8C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8"/>
          <p:cNvSpPr/>
          <p:nvPr/>
        </p:nvSpPr>
        <p:spPr>
          <a:xfrm>
            <a:off x="4663440" y="2577960"/>
            <a:ext cx="3196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60" b="0" u="none" strike="noStrike">
                <a:solidFill>
                  <a:srgbClr val="8D887E"/>
                </a:solidFill>
                <a:effectLst/>
                <a:uFillTx/>
                <a:latin typeface="Aptos"/>
                <a:ea typeface="Aptos"/>
              </a:rPr>
              <a:t>150%</a:t>
            </a:r>
            <a:endParaRPr lang="en-US" sz="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29"/>
          <p:cNvSpPr/>
          <p:nvPr/>
        </p:nvSpPr>
        <p:spPr>
          <a:xfrm>
            <a:off x="5394960" y="2996280"/>
            <a:ext cx="749520" cy="1163880"/>
          </a:xfrm>
          <a:prstGeom prst="rect">
            <a:avLst/>
          </a:prstGeom>
          <a:solidFill>
            <a:srgbClr val="9CB8A8"/>
          </a:solidFill>
          <a:ln w="12700">
            <a:solidFill>
              <a:srgbClr val="9CB8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30"/>
          <p:cNvSpPr/>
          <p:nvPr/>
        </p:nvSpPr>
        <p:spPr>
          <a:xfrm>
            <a:off x="5394960" y="2813400"/>
            <a:ext cx="7495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D2722"/>
                </a:solidFill>
                <a:effectLst/>
                <a:uFillTx/>
                <a:latin typeface="Aptos"/>
                <a:ea typeface="Aptos"/>
              </a:rPr>
              <a:t>115%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1"/>
          <p:cNvSpPr/>
          <p:nvPr/>
        </p:nvSpPr>
        <p:spPr>
          <a:xfrm>
            <a:off x="5193720" y="431604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Central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32"/>
          <p:cNvSpPr/>
          <p:nvPr/>
        </p:nvSpPr>
        <p:spPr>
          <a:xfrm>
            <a:off x="6784920" y="2874960"/>
            <a:ext cx="749520" cy="1285200"/>
          </a:xfrm>
          <a:prstGeom prst="rect">
            <a:avLst/>
          </a:prstGeom>
          <a:solidFill>
            <a:srgbClr val="B38A49"/>
          </a:solidFill>
          <a:ln w="12700">
            <a:solidFill>
              <a:srgbClr val="B38A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33"/>
          <p:cNvSpPr/>
          <p:nvPr/>
        </p:nvSpPr>
        <p:spPr>
          <a:xfrm>
            <a:off x="6784920" y="2692080"/>
            <a:ext cx="7495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D2722"/>
                </a:solidFill>
                <a:effectLst/>
                <a:uFillTx/>
                <a:latin typeface="Aptos"/>
                <a:ea typeface="Aptos"/>
              </a:rPr>
              <a:t>127%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34"/>
          <p:cNvSpPr/>
          <p:nvPr/>
        </p:nvSpPr>
        <p:spPr>
          <a:xfrm>
            <a:off x="6583680" y="431604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Northwest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35"/>
          <p:cNvSpPr/>
          <p:nvPr/>
        </p:nvSpPr>
        <p:spPr>
          <a:xfrm>
            <a:off x="8174880" y="3047040"/>
            <a:ext cx="749520" cy="1113120"/>
          </a:xfrm>
          <a:prstGeom prst="rect">
            <a:avLst/>
          </a:prstGeom>
          <a:solidFill>
            <a:srgbClr val="9CB8A8"/>
          </a:solidFill>
          <a:ln w="12700">
            <a:solidFill>
              <a:srgbClr val="9CB8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36"/>
          <p:cNvSpPr/>
          <p:nvPr/>
        </p:nvSpPr>
        <p:spPr>
          <a:xfrm>
            <a:off x="8174880" y="2864160"/>
            <a:ext cx="7495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D2722"/>
                </a:solidFill>
                <a:effectLst/>
                <a:uFillTx/>
                <a:latin typeface="Aptos"/>
                <a:ea typeface="Aptos"/>
              </a:rPr>
              <a:t>110%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37"/>
          <p:cNvSpPr/>
          <p:nvPr/>
        </p:nvSpPr>
        <p:spPr>
          <a:xfrm>
            <a:off x="7973640" y="431604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South Peninsular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38"/>
          <p:cNvSpPr/>
          <p:nvPr/>
        </p:nvSpPr>
        <p:spPr>
          <a:xfrm>
            <a:off x="9564480" y="3350520"/>
            <a:ext cx="749520" cy="809640"/>
          </a:xfrm>
          <a:prstGeom prst="rect">
            <a:avLst/>
          </a:prstGeom>
          <a:solidFill>
            <a:srgbClr val="9CB8A8"/>
          </a:solidFill>
          <a:ln w="12700">
            <a:solidFill>
              <a:srgbClr val="9CB8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9"/>
          <p:cNvSpPr/>
          <p:nvPr/>
        </p:nvSpPr>
        <p:spPr>
          <a:xfrm>
            <a:off x="9564480" y="3167640"/>
            <a:ext cx="7495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D2722"/>
                </a:solidFill>
                <a:effectLst/>
                <a:uFillTx/>
                <a:latin typeface="Aptos"/>
                <a:ea typeface="Aptos"/>
              </a:rPr>
              <a:t>80%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0"/>
          <p:cNvSpPr/>
          <p:nvPr/>
        </p:nvSpPr>
        <p:spPr>
          <a:xfrm>
            <a:off x="9363600" y="431604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East &amp; Northeast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41"/>
          <p:cNvSpPr/>
          <p:nvPr/>
        </p:nvSpPr>
        <p:spPr>
          <a:xfrm>
            <a:off x="9619560" y="2057400"/>
            <a:ext cx="1645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% of Long Period Average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42"/>
          <p:cNvSpPr/>
          <p:nvPr/>
        </p:nvSpPr>
        <p:spPr>
          <a:xfrm>
            <a:off x="4553640" y="4919400"/>
            <a:ext cx="6985800" cy="1023840"/>
          </a:xfrm>
          <a:prstGeom prst="roundRect">
            <a:avLst>
              <a:gd name="adj" fmla="val 7143"/>
            </a:avLst>
          </a:prstGeom>
          <a:solidFill>
            <a:srgbClr val="EAE7DE"/>
          </a:solidFill>
          <a:ln w="10160">
            <a:solidFill>
              <a:srgbClr val="D5CEC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43"/>
          <p:cNvSpPr/>
          <p:nvPr/>
        </p:nvSpPr>
        <p:spPr>
          <a:xfrm>
            <a:off x="4782240" y="5148000"/>
            <a:ext cx="17827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1" u="none" strike="noStrike" spc="79">
                <a:solidFill>
                  <a:srgbClr val="2F6D5B"/>
                </a:solidFill>
                <a:effectLst/>
                <a:uFillTx/>
                <a:latin typeface="Aptos"/>
                <a:ea typeface="Aptos"/>
              </a:rPr>
              <a:t>AGRICULTURE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44"/>
          <p:cNvSpPr/>
          <p:nvPr/>
        </p:nvSpPr>
        <p:spPr>
          <a:xfrm>
            <a:off x="4782240" y="535824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planning field activity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45"/>
          <p:cNvSpPr/>
          <p:nvPr/>
        </p:nvSpPr>
        <p:spPr>
          <a:xfrm>
            <a:off x="7004160" y="5148000"/>
            <a:ext cx="17827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1" u="none" strike="noStrike" spc="79">
                <a:solidFill>
                  <a:srgbClr val="2F6D5B"/>
                </a:solidFill>
                <a:effectLst/>
                <a:uFillTx/>
                <a:latin typeface="Aptos"/>
                <a:ea typeface="Aptos"/>
              </a:rPr>
              <a:t>WATER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46"/>
          <p:cNvSpPr/>
          <p:nvPr/>
        </p:nvSpPr>
        <p:spPr>
          <a:xfrm>
            <a:off x="7004160" y="535824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reservoir &amp; resource planning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47"/>
          <p:cNvSpPr/>
          <p:nvPr/>
        </p:nvSpPr>
        <p:spPr>
          <a:xfrm>
            <a:off x="9226440" y="5148000"/>
            <a:ext cx="17827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1" u="none" strike="noStrike" spc="79">
                <a:solidFill>
                  <a:srgbClr val="2F6D5B"/>
                </a:solidFill>
                <a:effectLst/>
                <a:uFillTx/>
                <a:latin typeface="Aptos"/>
                <a:ea typeface="Aptos"/>
              </a:rPr>
              <a:t>TRANSPORT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48"/>
          <p:cNvSpPr/>
          <p:nvPr/>
        </p:nvSpPr>
        <p:spPr>
          <a:xfrm>
            <a:off x="9226440" y="535824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rainfall-related disruption awareness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49"/>
          <p:cNvSpPr/>
          <p:nvPr/>
        </p:nvSpPr>
        <p:spPr>
          <a:xfrm>
            <a:off x="612720" y="6291000"/>
            <a:ext cx="10698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i="1" u="none" strike="noStrike">
                <a:solidFill>
                  <a:srgbClr val="817B70"/>
                </a:solidFill>
                <a:effectLst/>
                <a:uFillTx/>
                <a:latin typeface="Aptos"/>
                <a:ea typeface="Aptos"/>
              </a:rPr>
              <a:t>Rainfall context: India Meteorological Department, Observed Rainfall Features during the Southwest Monsoon 2025.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1"/>
          <p:cNvSpPr>
            <a:spLocks noGrp="1"/>
          </p:cNvSpPr>
          <p:nvPr>
            <p:ph type="sldNum" idx="6"/>
          </p:nvPr>
        </p:nvSpPr>
        <p:spPr>
          <a:xfrm>
            <a:off x="11685960" y="6565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7E786D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8F261C1-CE47-4638-9D0B-455573B29C38}" type="slidenum">
              <a:rPr lang="en-US" sz="700" b="0" u="none" strike="noStrike">
                <a:solidFill>
                  <a:srgbClr val="7E786D"/>
                </a:solidFill>
                <a:effectLst/>
                <a:uFillTx/>
                <a:latin typeface="Aptos"/>
                <a:ea typeface="Aptos"/>
              </a:rPr>
              <a:t>2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 0"/>
          <p:cNvSpPr/>
          <p:nvPr/>
        </p:nvSpPr>
        <p:spPr>
          <a:xfrm>
            <a:off x="594360" y="384120"/>
            <a:ext cx="50288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 spc="150">
                <a:solidFill>
                  <a:srgbClr val="B38A49"/>
                </a:solidFill>
                <a:effectLst/>
                <a:uFillTx/>
                <a:latin typeface="Aptos"/>
                <a:ea typeface="Aptos"/>
              </a:rPr>
              <a:t>02  /  LITERATURE SURVEY &amp; RESEARCH GAP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"/>
          <p:cNvSpPr/>
          <p:nvPr/>
        </p:nvSpPr>
        <p:spPr>
          <a:xfrm>
            <a:off x="594360" y="667440"/>
            <a:ext cx="1088100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Recent work supports both neural prediction and fuzzy interpretation.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"/>
          <p:cNvSpPr/>
          <p:nvPr/>
        </p:nvSpPr>
        <p:spPr>
          <a:xfrm>
            <a:off x="612720" y="1252800"/>
            <a:ext cx="10698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The project combines the two roles into one lightweight decision-support pipeline.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3"/>
          <p:cNvSpPr/>
          <p:nvPr/>
        </p:nvSpPr>
        <p:spPr>
          <a:xfrm>
            <a:off x="612720" y="1810440"/>
            <a:ext cx="7360560" cy="4315680"/>
          </a:xfrm>
          <a:prstGeom prst="roundRect">
            <a:avLst>
              <a:gd name="adj" fmla="val 1695"/>
            </a:avLst>
          </a:prstGeom>
          <a:solidFill>
            <a:srgbClr val="FBF8F1"/>
          </a:solidFill>
          <a:ln w="10160">
            <a:solidFill>
              <a:srgbClr val="C7C0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4"/>
          <p:cNvSpPr/>
          <p:nvPr/>
        </p:nvSpPr>
        <p:spPr>
          <a:xfrm>
            <a:off x="868680" y="2039040"/>
            <a:ext cx="2011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111">
                <a:solidFill>
                  <a:srgbClr val="B38A49"/>
                </a:solidFill>
                <a:effectLst/>
                <a:uFillTx/>
                <a:latin typeface="Aptos"/>
                <a:ea typeface="Aptos"/>
              </a:rPr>
              <a:t>LITERATURE SNAPSHOT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5"/>
          <p:cNvSpPr/>
          <p:nvPr/>
        </p:nvSpPr>
        <p:spPr>
          <a:xfrm>
            <a:off x="868680" y="2377440"/>
            <a:ext cx="6839640" cy="360"/>
          </a:xfrm>
          <a:prstGeom prst="line">
            <a:avLst/>
          </a:prstGeom>
          <a:ln w="8255">
            <a:solidFill>
              <a:srgbClr val="C7C0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6"/>
          <p:cNvSpPr/>
          <p:nvPr/>
        </p:nvSpPr>
        <p:spPr>
          <a:xfrm>
            <a:off x="868680" y="248724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1" u="none" strike="noStrike">
                <a:solidFill>
                  <a:srgbClr val="B38A49"/>
                </a:solidFill>
                <a:effectLst/>
                <a:uFillTx/>
                <a:latin typeface="Aptos"/>
                <a:ea typeface="Aptos"/>
              </a:rPr>
              <a:t>2024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7"/>
          <p:cNvSpPr/>
          <p:nvPr/>
        </p:nvSpPr>
        <p:spPr>
          <a:xfrm>
            <a:off x="1417320" y="246888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Abu Saleh et al.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8"/>
          <p:cNvSpPr/>
          <p:nvPr/>
        </p:nvSpPr>
        <p:spPr>
          <a:xfrm>
            <a:off x="3310200" y="2441520"/>
            <a:ext cx="40046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39 AI rainfall-forecasting studies were reviewed; ANN appeared among the strongest approaches in a share of studies, and hybridization was recommended.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9"/>
          <p:cNvSpPr/>
          <p:nvPr/>
        </p:nvSpPr>
        <p:spPr>
          <a:xfrm>
            <a:off x="868680" y="3456360"/>
            <a:ext cx="6839640" cy="360"/>
          </a:xfrm>
          <a:prstGeom prst="line">
            <a:avLst/>
          </a:prstGeom>
          <a:ln w="8255">
            <a:solidFill>
              <a:srgbClr val="C7C0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0"/>
          <p:cNvSpPr/>
          <p:nvPr/>
        </p:nvSpPr>
        <p:spPr>
          <a:xfrm>
            <a:off x="868680" y="356616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1" u="none" strike="noStrike">
                <a:solidFill>
                  <a:srgbClr val="B38A49"/>
                </a:solidFill>
                <a:effectLst/>
                <a:uFillTx/>
                <a:latin typeface="Aptos"/>
                <a:ea typeface="Aptos"/>
              </a:rPr>
              <a:t>2024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1"/>
          <p:cNvSpPr/>
          <p:nvPr/>
        </p:nvSpPr>
        <p:spPr>
          <a:xfrm>
            <a:off x="1417320" y="354780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Ruiz-Hurtado et al.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2"/>
          <p:cNvSpPr/>
          <p:nvPr/>
        </p:nvSpPr>
        <p:spPr>
          <a:xfrm>
            <a:off x="3310200" y="3520440"/>
            <a:ext cx="40046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Systematic review of neural networks, fuzzy logic and neuro-fuzzy models; highlights the value of combining learning with interpretability.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3"/>
          <p:cNvSpPr/>
          <p:nvPr/>
        </p:nvSpPr>
        <p:spPr>
          <a:xfrm>
            <a:off x="868680" y="4535280"/>
            <a:ext cx="6839640" cy="360"/>
          </a:xfrm>
          <a:prstGeom prst="line">
            <a:avLst/>
          </a:prstGeom>
          <a:ln w="8255">
            <a:solidFill>
              <a:srgbClr val="C7C0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4"/>
          <p:cNvSpPr/>
          <p:nvPr/>
        </p:nvSpPr>
        <p:spPr>
          <a:xfrm>
            <a:off x="868680" y="464508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1" u="none" strike="noStrike">
                <a:solidFill>
                  <a:srgbClr val="B38A49"/>
                </a:solidFill>
                <a:effectLst/>
                <a:uFillTx/>
                <a:latin typeface="Aptos"/>
                <a:ea typeface="Aptos"/>
              </a:rPr>
              <a:t>2024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5"/>
          <p:cNvSpPr/>
          <p:nvPr/>
        </p:nvSpPr>
        <p:spPr>
          <a:xfrm>
            <a:off x="1417320" y="462672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62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Weather Forecasting using ANN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6"/>
          <p:cNvSpPr/>
          <p:nvPr/>
        </p:nvSpPr>
        <p:spPr>
          <a:xfrm>
            <a:off x="3310200" y="4599360"/>
            <a:ext cx="40046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ANNs are suited to complex, nonlinear weather relationships; input data and network design strongly influence performance.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7"/>
          <p:cNvSpPr/>
          <p:nvPr/>
        </p:nvSpPr>
        <p:spPr>
          <a:xfrm>
            <a:off x="8229600" y="1810440"/>
            <a:ext cx="3309840" cy="4315680"/>
          </a:xfrm>
          <a:prstGeom prst="roundRect">
            <a:avLst>
              <a:gd name="adj" fmla="val 2210"/>
            </a:avLst>
          </a:prstGeom>
          <a:solidFill>
            <a:srgbClr val="EAE7DE"/>
          </a:solidFill>
          <a:ln w="10160">
            <a:solidFill>
              <a:srgbClr val="D5CEC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8"/>
          <p:cNvSpPr/>
          <p:nvPr/>
        </p:nvSpPr>
        <p:spPr>
          <a:xfrm>
            <a:off x="8485560" y="204840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111">
                <a:solidFill>
                  <a:srgbClr val="B38A49"/>
                </a:solidFill>
                <a:effectLst/>
                <a:uFillTx/>
                <a:latin typeface="Aptos"/>
                <a:ea typeface="Aptos"/>
              </a:rPr>
              <a:t>RESEARCH GAP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9"/>
          <p:cNvSpPr/>
          <p:nvPr/>
        </p:nvSpPr>
        <p:spPr>
          <a:xfrm>
            <a:off x="8485560" y="2432160"/>
            <a:ext cx="26971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Prediction and decision support are often discussed separately.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20"/>
          <p:cNvSpPr/>
          <p:nvPr/>
        </p:nvSpPr>
        <p:spPr>
          <a:xfrm>
            <a:off x="8485560" y="3456360"/>
            <a:ext cx="2651760" cy="360"/>
          </a:xfrm>
          <a:prstGeom prst="line">
            <a:avLst/>
          </a:prstGeom>
          <a:ln w="8890">
            <a:solidFill>
              <a:srgbClr val="C7C0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1"/>
          <p:cNvSpPr/>
          <p:nvPr/>
        </p:nvSpPr>
        <p:spPr>
          <a:xfrm>
            <a:off x="8485560" y="3684960"/>
            <a:ext cx="127980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 spc="91">
                <a:solidFill>
                  <a:srgbClr val="2F6D5B"/>
                </a:solidFill>
                <a:effectLst/>
                <a:uFillTx/>
                <a:latin typeface="Aptos"/>
                <a:ea typeface="Aptos"/>
              </a:rPr>
              <a:t>PROJECT FOCUS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2"/>
          <p:cNvSpPr/>
          <p:nvPr/>
        </p:nvSpPr>
        <p:spPr>
          <a:xfrm>
            <a:off x="8485560" y="3968640"/>
            <a:ext cx="23770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Build a focused system in which: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3"/>
          <p:cNvSpPr/>
          <p:nvPr/>
        </p:nvSpPr>
        <p:spPr>
          <a:xfrm>
            <a:off x="8485560" y="4297680"/>
            <a:ext cx="257832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1D2722"/>
                </a:solidFill>
                <a:effectLst/>
                <a:uFillTx/>
                <a:latin typeface="Aptos"/>
                <a:ea typeface="Aptos"/>
              </a:rPr>
              <a:t>ANN learns from historical weather data.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1D2722"/>
                </a:solidFill>
                <a:effectLst/>
                <a:uFillTx/>
                <a:latin typeface="Aptos"/>
                <a:ea typeface="Aptos"/>
              </a:rPr>
              <a:t>Fuzzy Logic translates the prediction and conditions into a graded risk level.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4"/>
          <p:cNvSpPr/>
          <p:nvPr/>
        </p:nvSpPr>
        <p:spPr>
          <a:xfrm>
            <a:off x="8485560" y="5504760"/>
            <a:ext cx="2578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F6D5B"/>
                </a:solidFill>
                <a:effectLst/>
                <a:uFillTx/>
                <a:latin typeface="Georgia"/>
                <a:ea typeface="Georgia"/>
              </a:rPr>
              <a:t>This is the proposed contribution of the project.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5"/>
          <p:cNvSpPr/>
          <p:nvPr/>
        </p:nvSpPr>
        <p:spPr>
          <a:xfrm>
            <a:off x="612720" y="6291000"/>
            <a:ext cx="10698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i="1" u="none" strike="noStrike">
                <a:solidFill>
                  <a:srgbClr val="817B70"/>
                </a:solidFill>
                <a:effectLst/>
                <a:uFillTx/>
                <a:latin typeface="Aptos"/>
                <a:ea typeface="Aptos"/>
              </a:rPr>
              <a:t>Sources: Abu Saleh, Rasel &amp; Ray (2024); Ruiz-Hurtado, Vargas-Franco &amp; González-Salcedo (2024); Weather Forecasting Using ANN (2024).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1"/>
          <p:cNvSpPr>
            <a:spLocks noGrp="1"/>
          </p:cNvSpPr>
          <p:nvPr>
            <p:ph type="sldNum" idx="7"/>
          </p:nvPr>
        </p:nvSpPr>
        <p:spPr>
          <a:xfrm>
            <a:off x="11685960" y="6565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7E786D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F1C4F1C-1472-4DB0-9E60-221497DC893F}" type="slidenum">
              <a:rPr lang="en-US" sz="700" b="0" u="none" strike="noStrike">
                <a:solidFill>
                  <a:srgbClr val="7E786D"/>
                </a:solidFill>
                <a:effectLst/>
                <a:uFillTx/>
                <a:latin typeface="Aptos"/>
                <a:ea typeface="Aptos"/>
              </a:rPr>
              <a:t>3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 0"/>
          <p:cNvSpPr/>
          <p:nvPr/>
        </p:nvSpPr>
        <p:spPr>
          <a:xfrm>
            <a:off x="594360" y="384120"/>
            <a:ext cx="50288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 spc="150">
                <a:solidFill>
                  <a:srgbClr val="B38A49"/>
                </a:solidFill>
                <a:effectLst/>
                <a:uFillTx/>
                <a:latin typeface="Aptos"/>
                <a:ea typeface="Aptos"/>
              </a:rPr>
              <a:t>03  /  OBJECTIVES &amp; EXPECTED OUTCOMES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"/>
          <p:cNvSpPr/>
          <p:nvPr/>
        </p:nvSpPr>
        <p:spPr>
          <a:xfrm>
            <a:off x="594360" y="667440"/>
            <a:ext cx="1088100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A clear path from historical data to a usable technical prototype.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"/>
          <p:cNvSpPr/>
          <p:nvPr/>
        </p:nvSpPr>
        <p:spPr>
          <a:xfrm>
            <a:off x="612720" y="1252800"/>
            <a:ext cx="10698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The project is scoped as a software-based decision-support system.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3"/>
          <p:cNvSpPr/>
          <p:nvPr/>
        </p:nvSpPr>
        <p:spPr>
          <a:xfrm>
            <a:off x="612720" y="1783080"/>
            <a:ext cx="6491880" cy="4324680"/>
          </a:xfrm>
          <a:prstGeom prst="roundRect">
            <a:avLst>
              <a:gd name="adj" fmla="val 1691"/>
            </a:avLst>
          </a:prstGeom>
          <a:solidFill>
            <a:srgbClr val="FBF8F1"/>
          </a:solidFill>
          <a:ln w="10160">
            <a:solidFill>
              <a:srgbClr val="C7C0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4"/>
          <p:cNvSpPr/>
          <p:nvPr/>
        </p:nvSpPr>
        <p:spPr>
          <a:xfrm>
            <a:off x="868680" y="2048400"/>
            <a:ext cx="1279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111">
                <a:solidFill>
                  <a:srgbClr val="B38A49"/>
                </a:solidFill>
                <a:effectLst/>
                <a:uFillTx/>
                <a:latin typeface="Aptos"/>
                <a:ea typeface="Aptos"/>
              </a:rPr>
              <a:t>OBJECTIVES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5"/>
          <p:cNvSpPr/>
          <p:nvPr/>
        </p:nvSpPr>
        <p:spPr>
          <a:xfrm>
            <a:off x="896040" y="2450520"/>
            <a:ext cx="219240" cy="21924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6"/>
          <p:cNvSpPr/>
          <p:nvPr/>
        </p:nvSpPr>
        <p:spPr>
          <a:xfrm>
            <a:off x="896040" y="2496240"/>
            <a:ext cx="21924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en-US" sz="6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7"/>
          <p:cNvSpPr/>
          <p:nvPr/>
        </p:nvSpPr>
        <p:spPr>
          <a:xfrm>
            <a:off x="1298520" y="2432160"/>
            <a:ext cx="1051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Prepare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8"/>
          <p:cNvSpPr/>
          <p:nvPr/>
        </p:nvSpPr>
        <p:spPr>
          <a:xfrm>
            <a:off x="2286000" y="2414160"/>
            <a:ext cx="41601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a suitable historical rainfall / weather dataset.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9"/>
          <p:cNvSpPr/>
          <p:nvPr/>
        </p:nvSpPr>
        <p:spPr>
          <a:xfrm>
            <a:off x="896040" y="3117960"/>
            <a:ext cx="219240" cy="21924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0"/>
          <p:cNvSpPr/>
          <p:nvPr/>
        </p:nvSpPr>
        <p:spPr>
          <a:xfrm>
            <a:off x="896040" y="3163680"/>
            <a:ext cx="21924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6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1"/>
          <p:cNvSpPr/>
          <p:nvPr/>
        </p:nvSpPr>
        <p:spPr>
          <a:xfrm>
            <a:off x="1298520" y="3099960"/>
            <a:ext cx="1051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Train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2"/>
          <p:cNvSpPr/>
          <p:nvPr/>
        </p:nvSpPr>
        <p:spPr>
          <a:xfrm>
            <a:off x="2286000" y="3081600"/>
            <a:ext cx="41601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an ANN to predict rainfall amount.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3"/>
          <p:cNvSpPr/>
          <p:nvPr/>
        </p:nvSpPr>
        <p:spPr>
          <a:xfrm>
            <a:off x="896040" y="3785760"/>
            <a:ext cx="219240" cy="21924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4"/>
          <p:cNvSpPr/>
          <p:nvPr/>
        </p:nvSpPr>
        <p:spPr>
          <a:xfrm>
            <a:off x="896040" y="3831480"/>
            <a:ext cx="21924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6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5"/>
          <p:cNvSpPr/>
          <p:nvPr/>
        </p:nvSpPr>
        <p:spPr>
          <a:xfrm>
            <a:off x="1298520" y="3767400"/>
            <a:ext cx="1051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Design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6"/>
          <p:cNvSpPr/>
          <p:nvPr/>
        </p:nvSpPr>
        <p:spPr>
          <a:xfrm>
            <a:off x="2286000" y="3749040"/>
            <a:ext cx="41601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a fuzzy inference layer for rainfall-risk assessment.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7"/>
          <p:cNvSpPr/>
          <p:nvPr/>
        </p:nvSpPr>
        <p:spPr>
          <a:xfrm>
            <a:off x="896040" y="4453200"/>
            <a:ext cx="219240" cy="21924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8"/>
          <p:cNvSpPr/>
          <p:nvPr/>
        </p:nvSpPr>
        <p:spPr>
          <a:xfrm>
            <a:off x="896040" y="4498920"/>
            <a:ext cx="21924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4</a:t>
            </a:r>
            <a:endParaRPr lang="en-US" sz="6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9"/>
          <p:cNvSpPr/>
          <p:nvPr/>
        </p:nvSpPr>
        <p:spPr>
          <a:xfrm>
            <a:off x="1298520" y="4434840"/>
            <a:ext cx="1051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Present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0"/>
          <p:cNvSpPr/>
          <p:nvPr/>
        </p:nvSpPr>
        <p:spPr>
          <a:xfrm>
            <a:off x="2286000" y="4416480"/>
            <a:ext cx="41601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prediction and risk through a simple dashboard.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21"/>
          <p:cNvSpPr/>
          <p:nvPr/>
        </p:nvSpPr>
        <p:spPr>
          <a:xfrm>
            <a:off x="896040" y="5120640"/>
            <a:ext cx="219240" cy="219240"/>
          </a:xfrm>
          <a:prstGeom prst="ellipse">
            <a:avLst/>
          </a:prstGeom>
          <a:solidFill>
            <a:srgbClr val="B38A49"/>
          </a:solidFill>
          <a:ln w="10160">
            <a:solidFill>
              <a:srgbClr val="B38A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2"/>
          <p:cNvSpPr/>
          <p:nvPr/>
        </p:nvSpPr>
        <p:spPr>
          <a:xfrm>
            <a:off x="896040" y="5166360"/>
            <a:ext cx="21924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5</a:t>
            </a:r>
            <a:endParaRPr lang="en-US" sz="6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3"/>
          <p:cNvSpPr/>
          <p:nvPr/>
        </p:nvSpPr>
        <p:spPr>
          <a:xfrm>
            <a:off x="1298520" y="5102280"/>
            <a:ext cx="1051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Evaluate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4"/>
          <p:cNvSpPr/>
          <p:nvPr/>
        </p:nvSpPr>
        <p:spPr>
          <a:xfrm>
            <a:off x="2286000" y="5083920"/>
            <a:ext cx="41601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the ANN using MAE, RMSE and R² against a simple baseline.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25"/>
          <p:cNvSpPr/>
          <p:nvPr/>
        </p:nvSpPr>
        <p:spPr>
          <a:xfrm>
            <a:off x="7333560" y="1783080"/>
            <a:ext cx="4205880" cy="4324680"/>
          </a:xfrm>
          <a:prstGeom prst="roundRect">
            <a:avLst>
              <a:gd name="adj" fmla="val 1739"/>
            </a:avLst>
          </a:prstGeom>
          <a:solidFill>
            <a:srgbClr val="EAE7DE"/>
          </a:solidFill>
          <a:ln w="10160">
            <a:solidFill>
              <a:srgbClr val="D5CEC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6"/>
          <p:cNvSpPr/>
          <p:nvPr/>
        </p:nvSpPr>
        <p:spPr>
          <a:xfrm>
            <a:off x="7607880" y="2066400"/>
            <a:ext cx="1828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111">
                <a:solidFill>
                  <a:srgbClr val="B38A49"/>
                </a:solidFill>
                <a:effectLst/>
                <a:uFillTx/>
                <a:latin typeface="Aptos"/>
                <a:ea typeface="Aptos"/>
              </a:rPr>
              <a:t>EXPECTED OUTCOME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7"/>
          <p:cNvSpPr/>
          <p:nvPr/>
        </p:nvSpPr>
        <p:spPr>
          <a:xfrm>
            <a:off x="7607880" y="2523600"/>
            <a:ext cx="29257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Technical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Prototype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8"/>
          <p:cNvSpPr/>
          <p:nvPr/>
        </p:nvSpPr>
        <p:spPr>
          <a:xfrm>
            <a:off x="7607880" y="3502080"/>
            <a:ext cx="31816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A working software system that demonstrates rainfall prediction, fuzzy risk assessment and clear result presentation.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29"/>
          <p:cNvSpPr/>
          <p:nvPr/>
        </p:nvSpPr>
        <p:spPr>
          <a:xfrm>
            <a:off x="7607520" y="4526280"/>
            <a:ext cx="3411000" cy="360"/>
          </a:xfrm>
          <a:prstGeom prst="line">
            <a:avLst/>
          </a:prstGeom>
          <a:ln w="8890">
            <a:solidFill>
              <a:srgbClr val="C7C0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30"/>
          <p:cNvSpPr/>
          <p:nvPr/>
        </p:nvSpPr>
        <p:spPr>
          <a:xfrm>
            <a:off x="7607880" y="4773240"/>
            <a:ext cx="8226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 spc="91">
                <a:solidFill>
                  <a:srgbClr val="2F6D5B"/>
                </a:solidFill>
                <a:effectLst/>
                <a:uFillTx/>
                <a:latin typeface="Aptos"/>
                <a:ea typeface="Aptos"/>
              </a:rPr>
              <a:t>OUTPUT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31"/>
          <p:cNvSpPr/>
          <p:nvPr/>
        </p:nvSpPr>
        <p:spPr>
          <a:xfrm>
            <a:off x="8412480" y="4727520"/>
            <a:ext cx="2486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Rainfall amount  +  Risk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32"/>
          <p:cNvSpPr/>
          <p:nvPr/>
        </p:nvSpPr>
        <p:spPr>
          <a:xfrm>
            <a:off x="7607880" y="5276160"/>
            <a:ext cx="30628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Research article potential: methodology + experimental results after implementation.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1"/>
          <p:cNvSpPr>
            <a:spLocks noGrp="1"/>
          </p:cNvSpPr>
          <p:nvPr>
            <p:ph type="sldNum" idx="8"/>
          </p:nvPr>
        </p:nvSpPr>
        <p:spPr>
          <a:xfrm>
            <a:off x="11685960" y="6565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7E786D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CF61097-4AC6-4ADE-963D-B57AE8109478}" type="slidenum">
              <a:rPr lang="en-US" sz="700" b="0" u="none" strike="noStrike">
                <a:solidFill>
                  <a:srgbClr val="7E786D"/>
                </a:solidFill>
                <a:effectLst/>
                <a:uFillTx/>
                <a:latin typeface="Aptos"/>
                <a:ea typeface="Aptos"/>
              </a:rPr>
              <a:t>4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 0"/>
          <p:cNvSpPr/>
          <p:nvPr/>
        </p:nvSpPr>
        <p:spPr>
          <a:xfrm>
            <a:off x="594360" y="384120"/>
            <a:ext cx="50288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 spc="150">
                <a:solidFill>
                  <a:srgbClr val="B38A49"/>
                </a:solidFill>
                <a:effectLst/>
                <a:uFillTx/>
                <a:latin typeface="Aptos"/>
                <a:ea typeface="Aptos"/>
              </a:rPr>
              <a:t>04  /  DATA &amp; INPUTS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"/>
          <p:cNvSpPr/>
          <p:nvPr/>
        </p:nvSpPr>
        <p:spPr>
          <a:xfrm>
            <a:off x="594360" y="667440"/>
            <a:ext cx="1088100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The model learns from historical weather observations.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"/>
          <p:cNvSpPr/>
          <p:nvPr/>
        </p:nvSpPr>
        <p:spPr>
          <a:xfrm>
            <a:off x="612720" y="1252800"/>
            <a:ext cx="10698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The proposed dataset contains meteorological inputs and rainfall as the target variable.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3"/>
          <p:cNvSpPr/>
          <p:nvPr/>
        </p:nvSpPr>
        <p:spPr>
          <a:xfrm>
            <a:off x="612720" y="1783080"/>
            <a:ext cx="4617360" cy="4334040"/>
          </a:xfrm>
          <a:prstGeom prst="roundRect">
            <a:avLst>
              <a:gd name="adj" fmla="val 1688"/>
            </a:avLst>
          </a:prstGeom>
          <a:solidFill>
            <a:srgbClr val="FBF8F1"/>
          </a:solidFill>
          <a:ln w="10160">
            <a:solidFill>
              <a:srgbClr val="C7C0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4"/>
          <p:cNvSpPr/>
          <p:nvPr/>
        </p:nvSpPr>
        <p:spPr>
          <a:xfrm>
            <a:off x="868680" y="2039040"/>
            <a:ext cx="14626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111">
                <a:solidFill>
                  <a:srgbClr val="B38A49"/>
                </a:solidFill>
                <a:effectLst/>
                <a:uFillTx/>
                <a:latin typeface="Aptos"/>
                <a:ea typeface="Aptos"/>
              </a:rPr>
              <a:t>INPUT VARIABLES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5"/>
          <p:cNvSpPr/>
          <p:nvPr/>
        </p:nvSpPr>
        <p:spPr>
          <a:xfrm>
            <a:off x="868680" y="2413800"/>
            <a:ext cx="4087080" cy="360"/>
          </a:xfrm>
          <a:prstGeom prst="line">
            <a:avLst/>
          </a:prstGeom>
          <a:ln w="7620">
            <a:solidFill>
              <a:srgbClr val="C7C0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6"/>
          <p:cNvSpPr/>
          <p:nvPr/>
        </p:nvSpPr>
        <p:spPr>
          <a:xfrm>
            <a:off x="896040" y="2514600"/>
            <a:ext cx="31086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Temperature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7"/>
          <p:cNvSpPr/>
          <p:nvPr/>
        </p:nvSpPr>
        <p:spPr>
          <a:xfrm>
            <a:off x="4224600" y="2523600"/>
            <a:ext cx="5299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°C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8"/>
          <p:cNvSpPr/>
          <p:nvPr/>
        </p:nvSpPr>
        <p:spPr>
          <a:xfrm>
            <a:off x="868680" y="2999160"/>
            <a:ext cx="4087080" cy="360"/>
          </a:xfrm>
          <a:prstGeom prst="line">
            <a:avLst/>
          </a:prstGeom>
          <a:ln w="7620">
            <a:solidFill>
              <a:srgbClr val="C7C0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9"/>
          <p:cNvSpPr/>
          <p:nvPr/>
        </p:nvSpPr>
        <p:spPr>
          <a:xfrm>
            <a:off x="896040" y="3099960"/>
            <a:ext cx="31086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Relative humidity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0"/>
          <p:cNvSpPr/>
          <p:nvPr/>
        </p:nvSpPr>
        <p:spPr>
          <a:xfrm>
            <a:off x="4224600" y="3108960"/>
            <a:ext cx="5299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%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1"/>
          <p:cNvSpPr/>
          <p:nvPr/>
        </p:nvSpPr>
        <p:spPr>
          <a:xfrm>
            <a:off x="868680" y="3584160"/>
            <a:ext cx="4087080" cy="360"/>
          </a:xfrm>
          <a:prstGeom prst="line">
            <a:avLst/>
          </a:prstGeom>
          <a:ln w="7620">
            <a:solidFill>
              <a:srgbClr val="C7C0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2"/>
          <p:cNvSpPr/>
          <p:nvPr/>
        </p:nvSpPr>
        <p:spPr>
          <a:xfrm>
            <a:off x="896040" y="3684960"/>
            <a:ext cx="31086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Atmospheric pressure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3"/>
          <p:cNvSpPr/>
          <p:nvPr/>
        </p:nvSpPr>
        <p:spPr>
          <a:xfrm>
            <a:off x="4224600" y="3694320"/>
            <a:ext cx="5299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hPa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4"/>
          <p:cNvSpPr/>
          <p:nvPr/>
        </p:nvSpPr>
        <p:spPr>
          <a:xfrm>
            <a:off x="868680" y="4169520"/>
            <a:ext cx="4087080" cy="360"/>
          </a:xfrm>
          <a:prstGeom prst="line">
            <a:avLst/>
          </a:prstGeom>
          <a:ln w="7620">
            <a:solidFill>
              <a:srgbClr val="C7C0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5"/>
          <p:cNvSpPr/>
          <p:nvPr/>
        </p:nvSpPr>
        <p:spPr>
          <a:xfrm>
            <a:off x="896040" y="4270320"/>
            <a:ext cx="31086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Wind speed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6"/>
          <p:cNvSpPr/>
          <p:nvPr/>
        </p:nvSpPr>
        <p:spPr>
          <a:xfrm>
            <a:off x="4224600" y="4279320"/>
            <a:ext cx="5299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km/h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7"/>
          <p:cNvSpPr/>
          <p:nvPr/>
        </p:nvSpPr>
        <p:spPr>
          <a:xfrm>
            <a:off x="868680" y="4754880"/>
            <a:ext cx="4087080" cy="360"/>
          </a:xfrm>
          <a:prstGeom prst="line">
            <a:avLst/>
          </a:prstGeom>
          <a:ln w="7620">
            <a:solidFill>
              <a:srgbClr val="C7C0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8"/>
          <p:cNvSpPr/>
          <p:nvPr/>
        </p:nvSpPr>
        <p:spPr>
          <a:xfrm>
            <a:off x="896040" y="4855320"/>
            <a:ext cx="31086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Previous rainfall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9"/>
          <p:cNvSpPr/>
          <p:nvPr/>
        </p:nvSpPr>
        <p:spPr>
          <a:xfrm>
            <a:off x="4224600" y="4864680"/>
            <a:ext cx="5299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mm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0"/>
          <p:cNvSpPr/>
          <p:nvPr/>
        </p:nvSpPr>
        <p:spPr>
          <a:xfrm>
            <a:off x="868680" y="5486400"/>
            <a:ext cx="6580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 spc="99">
                <a:solidFill>
                  <a:srgbClr val="2F6D5B"/>
                </a:solidFill>
                <a:effectLst/>
                <a:uFillTx/>
                <a:latin typeface="Aptos"/>
                <a:ea typeface="Aptos"/>
              </a:rPr>
              <a:t>TARGET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1"/>
          <p:cNvSpPr/>
          <p:nvPr/>
        </p:nvSpPr>
        <p:spPr>
          <a:xfrm>
            <a:off x="1645920" y="5431680"/>
            <a:ext cx="25599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Rainfall amount (mm)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22"/>
          <p:cNvSpPr/>
          <p:nvPr/>
        </p:nvSpPr>
        <p:spPr>
          <a:xfrm>
            <a:off x="5477400" y="1783080"/>
            <a:ext cx="6062040" cy="2285640"/>
          </a:xfrm>
          <a:prstGeom prst="roundRect">
            <a:avLst>
              <a:gd name="adj" fmla="val 3200"/>
            </a:avLst>
          </a:prstGeom>
          <a:solidFill>
            <a:srgbClr val="EAE7DE"/>
          </a:solidFill>
          <a:ln w="10160">
            <a:solidFill>
              <a:srgbClr val="D5CEC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3"/>
          <p:cNvSpPr/>
          <p:nvPr/>
        </p:nvSpPr>
        <p:spPr>
          <a:xfrm>
            <a:off x="5724000" y="2030040"/>
            <a:ext cx="2102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111">
                <a:solidFill>
                  <a:srgbClr val="B38A49"/>
                </a:solidFill>
                <a:effectLst/>
                <a:uFillTx/>
                <a:latin typeface="Aptos"/>
                <a:ea typeface="Aptos"/>
              </a:rPr>
              <a:t>EXAMPLE RECORD FORMAT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4"/>
          <p:cNvSpPr/>
          <p:nvPr/>
        </p:nvSpPr>
        <p:spPr>
          <a:xfrm>
            <a:off x="5888880" y="2423160"/>
            <a:ext cx="6580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Temp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25"/>
          <p:cNvSpPr/>
          <p:nvPr/>
        </p:nvSpPr>
        <p:spPr>
          <a:xfrm>
            <a:off x="6556320" y="2423160"/>
            <a:ext cx="6580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Humidity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26"/>
          <p:cNvSpPr/>
          <p:nvPr/>
        </p:nvSpPr>
        <p:spPr>
          <a:xfrm>
            <a:off x="7260480" y="2423160"/>
            <a:ext cx="6580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Pressure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27"/>
          <p:cNvSpPr/>
          <p:nvPr/>
        </p:nvSpPr>
        <p:spPr>
          <a:xfrm>
            <a:off x="8019360" y="2423160"/>
            <a:ext cx="6580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Wind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8"/>
          <p:cNvSpPr/>
          <p:nvPr/>
        </p:nvSpPr>
        <p:spPr>
          <a:xfrm>
            <a:off x="8659440" y="2423160"/>
            <a:ext cx="6580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Prev. rain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9"/>
          <p:cNvSpPr/>
          <p:nvPr/>
        </p:nvSpPr>
        <p:spPr>
          <a:xfrm>
            <a:off x="9509760" y="2423160"/>
            <a:ext cx="6580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Rainfall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30"/>
          <p:cNvSpPr/>
          <p:nvPr/>
        </p:nvSpPr>
        <p:spPr>
          <a:xfrm>
            <a:off x="5687280" y="2697480"/>
            <a:ext cx="5577840" cy="360"/>
          </a:xfrm>
          <a:prstGeom prst="line">
            <a:avLst/>
          </a:prstGeom>
          <a:ln w="5715">
            <a:solidFill>
              <a:srgbClr val="C7C0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31"/>
          <p:cNvSpPr/>
          <p:nvPr/>
        </p:nvSpPr>
        <p:spPr>
          <a:xfrm>
            <a:off x="5916240" y="2770560"/>
            <a:ext cx="6213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D2722"/>
                </a:solidFill>
                <a:effectLst/>
                <a:uFillTx/>
                <a:latin typeface="Aptos"/>
                <a:ea typeface="Aptos"/>
              </a:rPr>
              <a:t>29.4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32"/>
          <p:cNvSpPr/>
          <p:nvPr/>
        </p:nvSpPr>
        <p:spPr>
          <a:xfrm>
            <a:off x="6583680" y="2770560"/>
            <a:ext cx="6213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D2722"/>
                </a:solidFill>
                <a:effectLst/>
                <a:uFillTx/>
                <a:latin typeface="Aptos"/>
                <a:ea typeface="Aptos"/>
              </a:rPr>
              <a:t>76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33"/>
          <p:cNvSpPr/>
          <p:nvPr/>
        </p:nvSpPr>
        <p:spPr>
          <a:xfrm>
            <a:off x="7287840" y="2770560"/>
            <a:ext cx="6213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D2722"/>
                </a:solidFill>
                <a:effectLst/>
                <a:uFillTx/>
                <a:latin typeface="Aptos"/>
                <a:ea typeface="Aptos"/>
              </a:rPr>
              <a:t>1008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34"/>
          <p:cNvSpPr/>
          <p:nvPr/>
        </p:nvSpPr>
        <p:spPr>
          <a:xfrm>
            <a:off x="8046720" y="2770560"/>
            <a:ext cx="6213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D2722"/>
                </a:solidFill>
                <a:effectLst/>
                <a:uFillTx/>
                <a:latin typeface="Aptos"/>
                <a:ea typeface="Aptos"/>
              </a:rPr>
              <a:t>14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35"/>
          <p:cNvSpPr/>
          <p:nvPr/>
        </p:nvSpPr>
        <p:spPr>
          <a:xfrm>
            <a:off x="8686800" y="2770560"/>
            <a:ext cx="6213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D2722"/>
                </a:solidFill>
                <a:effectLst/>
                <a:uFillTx/>
                <a:latin typeface="Aptos"/>
                <a:ea typeface="Aptos"/>
              </a:rPr>
              <a:t>2.1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36"/>
          <p:cNvSpPr/>
          <p:nvPr/>
        </p:nvSpPr>
        <p:spPr>
          <a:xfrm>
            <a:off x="9537120" y="2770560"/>
            <a:ext cx="6213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D2722"/>
                </a:solidFill>
                <a:effectLst/>
                <a:uFillTx/>
                <a:latin typeface="Aptos"/>
                <a:ea typeface="Aptos"/>
              </a:rPr>
              <a:t>18.6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37"/>
          <p:cNvSpPr/>
          <p:nvPr/>
        </p:nvSpPr>
        <p:spPr>
          <a:xfrm>
            <a:off x="5687280" y="3081240"/>
            <a:ext cx="5577840" cy="360"/>
          </a:xfrm>
          <a:prstGeom prst="line">
            <a:avLst/>
          </a:prstGeom>
          <a:ln w="5715">
            <a:solidFill>
              <a:srgbClr val="C7C0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38"/>
          <p:cNvSpPr/>
          <p:nvPr/>
        </p:nvSpPr>
        <p:spPr>
          <a:xfrm>
            <a:off x="5916240" y="3154680"/>
            <a:ext cx="6213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D2722"/>
                </a:solidFill>
                <a:effectLst/>
                <a:uFillTx/>
                <a:latin typeface="Aptos"/>
                <a:ea typeface="Aptos"/>
              </a:rPr>
              <a:t>27.8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39"/>
          <p:cNvSpPr/>
          <p:nvPr/>
        </p:nvSpPr>
        <p:spPr>
          <a:xfrm>
            <a:off x="6583680" y="3154680"/>
            <a:ext cx="6213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D2722"/>
                </a:solidFill>
                <a:effectLst/>
                <a:uFillTx/>
                <a:latin typeface="Aptos"/>
                <a:ea typeface="Aptos"/>
              </a:rPr>
              <a:t>84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40"/>
          <p:cNvSpPr/>
          <p:nvPr/>
        </p:nvSpPr>
        <p:spPr>
          <a:xfrm>
            <a:off x="7287840" y="3154680"/>
            <a:ext cx="6213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D2722"/>
                </a:solidFill>
                <a:effectLst/>
                <a:uFillTx/>
                <a:latin typeface="Aptos"/>
                <a:ea typeface="Aptos"/>
              </a:rPr>
              <a:t>1004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41"/>
          <p:cNvSpPr/>
          <p:nvPr/>
        </p:nvSpPr>
        <p:spPr>
          <a:xfrm>
            <a:off x="8046720" y="3154680"/>
            <a:ext cx="6213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D2722"/>
                </a:solidFill>
                <a:effectLst/>
                <a:uFillTx/>
                <a:latin typeface="Aptos"/>
                <a:ea typeface="Aptos"/>
              </a:rPr>
              <a:t>11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42"/>
          <p:cNvSpPr/>
          <p:nvPr/>
        </p:nvSpPr>
        <p:spPr>
          <a:xfrm>
            <a:off x="8686800" y="3154680"/>
            <a:ext cx="6213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D2722"/>
                </a:solidFill>
                <a:effectLst/>
                <a:uFillTx/>
                <a:latin typeface="Aptos"/>
                <a:ea typeface="Aptos"/>
              </a:rPr>
              <a:t>7.4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43"/>
          <p:cNvSpPr/>
          <p:nvPr/>
        </p:nvSpPr>
        <p:spPr>
          <a:xfrm>
            <a:off x="9537120" y="3154680"/>
            <a:ext cx="6213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D2722"/>
                </a:solidFill>
                <a:effectLst/>
                <a:uFillTx/>
                <a:latin typeface="Aptos"/>
                <a:ea typeface="Aptos"/>
              </a:rPr>
              <a:t>35.2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44"/>
          <p:cNvSpPr/>
          <p:nvPr/>
        </p:nvSpPr>
        <p:spPr>
          <a:xfrm>
            <a:off x="5687280" y="3465360"/>
            <a:ext cx="5577840" cy="360"/>
          </a:xfrm>
          <a:prstGeom prst="line">
            <a:avLst/>
          </a:prstGeom>
          <a:ln w="5715">
            <a:solidFill>
              <a:srgbClr val="C7C0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45"/>
          <p:cNvSpPr/>
          <p:nvPr/>
        </p:nvSpPr>
        <p:spPr>
          <a:xfrm>
            <a:off x="5916240" y="3538800"/>
            <a:ext cx="6213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D2722"/>
                </a:solidFill>
                <a:effectLst/>
                <a:uFillTx/>
                <a:latin typeface="Aptos"/>
                <a:ea typeface="Aptos"/>
              </a:rPr>
              <a:t>31.1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46"/>
          <p:cNvSpPr/>
          <p:nvPr/>
        </p:nvSpPr>
        <p:spPr>
          <a:xfrm>
            <a:off x="6583680" y="3538800"/>
            <a:ext cx="6213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D2722"/>
                </a:solidFill>
                <a:effectLst/>
                <a:uFillTx/>
                <a:latin typeface="Aptos"/>
                <a:ea typeface="Aptos"/>
              </a:rPr>
              <a:t>68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47"/>
          <p:cNvSpPr/>
          <p:nvPr/>
        </p:nvSpPr>
        <p:spPr>
          <a:xfrm>
            <a:off x="7287840" y="3538800"/>
            <a:ext cx="6213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D2722"/>
                </a:solidFill>
                <a:effectLst/>
                <a:uFillTx/>
                <a:latin typeface="Aptos"/>
                <a:ea typeface="Aptos"/>
              </a:rPr>
              <a:t>1012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48"/>
          <p:cNvSpPr/>
          <p:nvPr/>
        </p:nvSpPr>
        <p:spPr>
          <a:xfrm>
            <a:off x="8046720" y="3538800"/>
            <a:ext cx="6213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D2722"/>
                </a:solidFill>
                <a:effectLst/>
                <a:uFillTx/>
                <a:latin typeface="Aptos"/>
                <a:ea typeface="Aptos"/>
              </a:rPr>
              <a:t>19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49"/>
          <p:cNvSpPr/>
          <p:nvPr/>
        </p:nvSpPr>
        <p:spPr>
          <a:xfrm>
            <a:off x="8686800" y="3538800"/>
            <a:ext cx="6213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D2722"/>
                </a:solidFill>
                <a:effectLst/>
                <a:uFillTx/>
                <a:latin typeface="Aptos"/>
                <a:ea typeface="Aptos"/>
              </a:rPr>
              <a:t>0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50"/>
          <p:cNvSpPr/>
          <p:nvPr/>
        </p:nvSpPr>
        <p:spPr>
          <a:xfrm>
            <a:off x="9537120" y="3538800"/>
            <a:ext cx="6213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D2722"/>
                </a:solidFill>
                <a:effectLst/>
                <a:uFillTx/>
                <a:latin typeface="Aptos"/>
                <a:ea typeface="Aptos"/>
              </a:rPr>
              <a:t>4.8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51"/>
          <p:cNvSpPr/>
          <p:nvPr/>
        </p:nvSpPr>
        <p:spPr>
          <a:xfrm>
            <a:off x="5724000" y="3703320"/>
            <a:ext cx="53488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0" i="1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Illustrative rows showing the intended dataset structure.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52"/>
          <p:cNvSpPr/>
          <p:nvPr/>
        </p:nvSpPr>
        <p:spPr>
          <a:xfrm>
            <a:off x="5477400" y="4316040"/>
            <a:ext cx="6062040" cy="1801080"/>
          </a:xfrm>
          <a:prstGeom prst="roundRect">
            <a:avLst>
              <a:gd name="adj" fmla="val 4061"/>
            </a:avLst>
          </a:prstGeom>
          <a:solidFill>
            <a:srgbClr val="FBF8F1"/>
          </a:solidFill>
          <a:ln w="10160">
            <a:solidFill>
              <a:srgbClr val="C7C0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53"/>
          <p:cNvSpPr/>
          <p:nvPr/>
        </p:nvSpPr>
        <p:spPr>
          <a:xfrm>
            <a:off x="5724000" y="4553640"/>
            <a:ext cx="15998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111">
                <a:solidFill>
                  <a:srgbClr val="B38A49"/>
                </a:solidFill>
                <a:effectLst/>
                <a:uFillTx/>
                <a:latin typeface="Aptos"/>
                <a:ea typeface="Aptos"/>
              </a:rPr>
              <a:t>DATA PREPARATION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54"/>
          <p:cNvSpPr/>
          <p:nvPr/>
        </p:nvSpPr>
        <p:spPr>
          <a:xfrm>
            <a:off x="5715000" y="5074920"/>
            <a:ext cx="209880" cy="209880"/>
          </a:xfrm>
          <a:prstGeom prst="ellipse">
            <a:avLst/>
          </a:prstGeom>
          <a:solidFill>
            <a:srgbClr val="9CB8A8"/>
          </a:solidFill>
          <a:ln w="10160">
            <a:solidFill>
              <a:srgbClr val="9CB8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55"/>
          <p:cNvSpPr/>
          <p:nvPr/>
        </p:nvSpPr>
        <p:spPr>
          <a:xfrm>
            <a:off x="6026040" y="5001840"/>
            <a:ext cx="7678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Clean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56"/>
          <p:cNvSpPr/>
          <p:nvPr/>
        </p:nvSpPr>
        <p:spPr>
          <a:xfrm>
            <a:off x="6026040" y="5230440"/>
            <a:ext cx="868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missing values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57"/>
          <p:cNvSpPr/>
          <p:nvPr/>
        </p:nvSpPr>
        <p:spPr>
          <a:xfrm>
            <a:off x="7123320" y="5074920"/>
            <a:ext cx="209880" cy="209880"/>
          </a:xfrm>
          <a:prstGeom prst="ellipse">
            <a:avLst/>
          </a:prstGeom>
          <a:solidFill>
            <a:srgbClr val="9CB8A8"/>
          </a:solidFill>
          <a:ln w="10160">
            <a:solidFill>
              <a:srgbClr val="9CB8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58"/>
          <p:cNvSpPr/>
          <p:nvPr/>
        </p:nvSpPr>
        <p:spPr>
          <a:xfrm>
            <a:off x="7434000" y="5001840"/>
            <a:ext cx="7678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Select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59"/>
          <p:cNvSpPr/>
          <p:nvPr/>
        </p:nvSpPr>
        <p:spPr>
          <a:xfrm>
            <a:off x="7434000" y="5230440"/>
            <a:ext cx="868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relevant features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60"/>
          <p:cNvSpPr/>
          <p:nvPr/>
        </p:nvSpPr>
        <p:spPr>
          <a:xfrm>
            <a:off x="8531280" y="5074920"/>
            <a:ext cx="209880" cy="209880"/>
          </a:xfrm>
          <a:prstGeom prst="ellipse">
            <a:avLst/>
          </a:prstGeom>
          <a:solidFill>
            <a:srgbClr val="9CB8A8"/>
          </a:solidFill>
          <a:ln w="10160">
            <a:solidFill>
              <a:srgbClr val="9CB8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61"/>
          <p:cNvSpPr/>
          <p:nvPr/>
        </p:nvSpPr>
        <p:spPr>
          <a:xfrm>
            <a:off x="8842320" y="5001840"/>
            <a:ext cx="7678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Scale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62"/>
          <p:cNvSpPr/>
          <p:nvPr/>
        </p:nvSpPr>
        <p:spPr>
          <a:xfrm>
            <a:off x="8842320" y="5230440"/>
            <a:ext cx="868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numeric inputs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63"/>
          <p:cNvSpPr/>
          <p:nvPr/>
        </p:nvSpPr>
        <p:spPr>
          <a:xfrm>
            <a:off x="9939600" y="5074920"/>
            <a:ext cx="209880" cy="209880"/>
          </a:xfrm>
          <a:prstGeom prst="ellipse">
            <a:avLst/>
          </a:prstGeom>
          <a:solidFill>
            <a:srgbClr val="9CB8A8"/>
          </a:solidFill>
          <a:ln w="10160">
            <a:solidFill>
              <a:srgbClr val="9CB8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64"/>
          <p:cNvSpPr/>
          <p:nvPr/>
        </p:nvSpPr>
        <p:spPr>
          <a:xfrm>
            <a:off x="10250280" y="5001840"/>
            <a:ext cx="7678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Split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65"/>
          <p:cNvSpPr/>
          <p:nvPr/>
        </p:nvSpPr>
        <p:spPr>
          <a:xfrm>
            <a:off x="10250280" y="5230440"/>
            <a:ext cx="868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train / test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1"/>
          <p:cNvSpPr>
            <a:spLocks noGrp="1"/>
          </p:cNvSpPr>
          <p:nvPr>
            <p:ph type="sldNum" idx="9"/>
          </p:nvPr>
        </p:nvSpPr>
        <p:spPr>
          <a:xfrm>
            <a:off x="11685960" y="6565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7E786D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21FE224-7526-409A-8FAA-ACE4141DB6EA}" type="slidenum">
              <a:rPr lang="en-US" sz="700" b="0" u="none" strike="noStrike">
                <a:solidFill>
                  <a:srgbClr val="7E786D"/>
                </a:solidFill>
                <a:effectLst/>
                <a:uFillTx/>
                <a:latin typeface="Aptos"/>
                <a:ea typeface="Aptos"/>
              </a:rPr>
              <a:t>5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ext 0"/>
          <p:cNvSpPr/>
          <p:nvPr/>
        </p:nvSpPr>
        <p:spPr>
          <a:xfrm>
            <a:off x="594360" y="384120"/>
            <a:ext cx="50288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 spc="150">
                <a:solidFill>
                  <a:srgbClr val="B38A49"/>
                </a:solidFill>
                <a:effectLst/>
                <a:uFillTx/>
                <a:latin typeface="Aptos"/>
                <a:ea typeface="Aptos"/>
              </a:rPr>
              <a:t>05  /  PROPOSED SOFT COMPUTING METHODOLOGY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"/>
          <p:cNvSpPr/>
          <p:nvPr/>
        </p:nvSpPr>
        <p:spPr>
          <a:xfrm>
            <a:off x="594360" y="667440"/>
            <a:ext cx="1088100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ANN predicts. Fuzzy Logic interprets.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2"/>
          <p:cNvSpPr/>
          <p:nvPr/>
        </p:nvSpPr>
        <p:spPr>
          <a:xfrm>
            <a:off x="612720" y="1252800"/>
            <a:ext cx="10698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The two methods solve different parts of the rainfall-risk problem.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3"/>
          <p:cNvSpPr/>
          <p:nvPr/>
        </p:nvSpPr>
        <p:spPr>
          <a:xfrm>
            <a:off x="612720" y="1801440"/>
            <a:ext cx="5486040" cy="4242600"/>
          </a:xfrm>
          <a:prstGeom prst="roundRect">
            <a:avLst>
              <a:gd name="adj" fmla="val 1724"/>
            </a:avLst>
          </a:prstGeom>
          <a:solidFill>
            <a:srgbClr val="FBF8F1"/>
          </a:solidFill>
          <a:ln w="10160">
            <a:solidFill>
              <a:srgbClr val="C7C0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4"/>
          <p:cNvSpPr/>
          <p:nvPr/>
        </p:nvSpPr>
        <p:spPr>
          <a:xfrm>
            <a:off x="868680" y="2039040"/>
            <a:ext cx="2834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111">
                <a:solidFill>
                  <a:srgbClr val="2F6D5B"/>
                </a:solidFill>
                <a:effectLst/>
                <a:uFillTx/>
                <a:latin typeface="Aptos"/>
                <a:ea typeface="Aptos"/>
              </a:rPr>
              <a:t>A  •  ARTIFICIAL NEURAL NETWORK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5"/>
          <p:cNvSpPr/>
          <p:nvPr/>
        </p:nvSpPr>
        <p:spPr>
          <a:xfrm>
            <a:off x="868680" y="238644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Rainfall prediction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6"/>
          <p:cNvSpPr/>
          <p:nvPr/>
        </p:nvSpPr>
        <p:spPr>
          <a:xfrm>
            <a:off x="1261800" y="2855520"/>
            <a:ext cx="147600" cy="14760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7"/>
          <p:cNvSpPr/>
          <p:nvPr/>
        </p:nvSpPr>
        <p:spPr>
          <a:xfrm>
            <a:off x="1261800" y="3270240"/>
            <a:ext cx="147600" cy="14760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8"/>
          <p:cNvSpPr/>
          <p:nvPr/>
        </p:nvSpPr>
        <p:spPr>
          <a:xfrm>
            <a:off x="1261800" y="3684960"/>
            <a:ext cx="147600" cy="14760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9"/>
          <p:cNvSpPr/>
          <p:nvPr/>
        </p:nvSpPr>
        <p:spPr>
          <a:xfrm>
            <a:off x="1261800" y="4099680"/>
            <a:ext cx="147600" cy="14760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0"/>
          <p:cNvSpPr/>
          <p:nvPr/>
        </p:nvSpPr>
        <p:spPr>
          <a:xfrm>
            <a:off x="1261800" y="4514400"/>
            <a:ext cx="147600" cy="14760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11"/>
          <p:cNvSpPr/>
          <p:nvPr/>
        </p:nvSpPr>
        <p:spPr>
          <a:xfrm flipV="1">
            <a:off x="2466360" y="2716920"/>
            <a:ext cx="29880" cy="20736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12"/>
          <p:cNvSpPr/>
          <p:nvPr/>
        </p:nvSpPr>
        <p:spPr>
          <a:xfrm flipV="1">
            <a:off x="2466360" y="2716920"/>
            <a:ext cx="29880" cy="62244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13"/>
          <p:cNvSpPr/>
          <p:nvPr/>
        </p:nvSpPr>
        <p:spPr>
          <a:xfrm flipV="1">
            <a:off x="2466360" y="2716920"/>
            <a:ext cx="29880" cy="103716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14"/>
          <p:cNvSpPr/>
          <p:nvPr/>
        </p:nvSpPr>
        <p:spPr>
          <a:xfrm flipV="1">
            <a:off x="2466360" y="2716920"/>
            <a:ext cx="29880" cy="145188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5"/>
          <p:cNvSpPr/>
          <p:nvPr/>
        </p:nvSpPr>
        <p:spPr>
          <a:xfrm flipV="1">
            <a:off x="2466360" y="2716920"/>
            <a:ext cx="29880" cy="186660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16"/>
          <p:cNvSpPr/>
          <p:nvPr/>
        </p:nvSpPr>
        <p:spPr>
          <a:xfrm>
            <a:off x="2496240" y="2648160"/>
            <a:ext cx="147600" cy="14760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17"/>
          <p:cNvSpPr/>
          <p:nvPr/>
        </p:nvSpPr>
        <p:spPr>
          <a:xfrm>
            <a:off x="2466360" y="2924280"/>
            <a:ext cx="29880" cy="20772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18"/>
          <p:cNvSpPr/>
          <p:nvPr/>
        </p:nvSpPr>
        <p:spPr>
          <a:xfrm flipV="1">
            <a:off x="2466360" y="3132000"/>
            <a:ext cx="29880" cy="20736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19"/>
          <p:cNvSpPr/>
          <p:nvPr/>
        </p:nvSpPr>
        <p:spPr>
          <a:xfrm flipV="1">
            <a:off x="2466360" y="3132000"/>
            <a:ext cx="29880" cy="62208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20"/>
          <p:cNvSpPr/>
          <p:nvPr/>
        </p:nvSpPr>
        <p:spPr>
          <a:xfrm flipV="1">
            <a:off x="2466360" y="3132000"/>
            <a:ext cx="29880" cy="103680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21"/>
          <p:cNvSpPr/>
          <p:nvPr/>
        </p:nvSpPr>
        <p:spPr>
          <a:xfrm flipV="1">
            <a:off x="2466360" y="3132000"/>
            <a:ext cx="29880" cy="145152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22"/>
          <p:cNvSpPr/>
          <p:nvPr/>
        </p:nvSpPr>
        <p:spPr>
          <a:xfrm>
            <a:off x="2496240" y="3062880"/>
            <a:ext cx="147600" cy="14760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23"/>
          <p:cNvSpPr/>
          <p:nvPr/>
        </p:nvSpPr>
        <p:spPr>
          <a:xfrm>
            <a:off x="2466360" y="2924280"/>
            <a:ext cx="29880" cy="62244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24"/>
          <p:cNvSpPr/>
          <p:nvPr/>
        </p:nvSpPr>
        <p:spPr>
          <a:xfrm>
            <a:off x="2466360" y="3339360"/>
            <a:ext cx="29880" cy="20736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25"/>
          <p:cNvSpPr/>
          <p:nvPr/>
        </p:nvSpPr>
        <p:spPr>
          <a:xfrm flipV="1">
            <a:off x="2466360" y="3546720"/>
            <a:ext cx="29880" cy="20736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26"/>
          <p:cNvSpPr/>
          <p:nvPr/>
        </p:nvSpPr>
        <p:spPr>
          <a:xfrm flipV="1">
            <a:off x="2466360" y="3546720"/>
            <a:ext cx="29880" cy="62208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27"/>
          <p:cNvSpPr/>
          <p:nvPr/>
        </p:nvSpPr>
        <p:spPr>
          <a:xfrm flipV="1">
            <a:off x="2466360" y="3546720"/>
            <a:ext cx="29880" cy="103680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28"/>
          <p:cNvSpPr/>
          <p:nvPr/>
        </p:nvSpPr>
        <p:spPr>
          <a:xfrm>
            <a:off x="2496240" y="3477600"/>
            <a:ext cx="147600" cy="14760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29"/>
          <p:cNvSpPr/>
          <p:nvPr/>
        </p:nvSpPr>
        <p:spPr>
          <a:xfrm>
            <a:off x="2466360" y="2924280"/>
            <a:ext cx="29880" cy="103716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30"/>
          <p:cNvSpPr/>
          <p:nvPr/>
        </p:nvSpPr>
        <p:spPr>
          <a:xfrm>
            <a:off x="2466360" y="3339360"/>
            <a:ext cx="29880" cy="62208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31"/>
          <p:cNvSpPr/>
          <p:nvPr/>
        </p:nvSpPr>
        <p:spPr>
          <a:xfrm>
            <a:off x="2466360" y="3754080"/>
            <a:ext cx="29880" cy="20736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32"/>
          <p:cNvSpPr/>
          <p:nvPr/>
        </p:nvSpPr>
        <p:spPr>
          <a:xfrm flipV="1">
            <a:off x="2466360" y="3961440"/>
            <a:ext cx="29880" cy="20736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33"/>
          <p:cNvSpPr/>
          <p:nvPr/>
        </p:nvSpPr>
        <p:spPr>
          <a:xfrm flipV="1">
            <a:off x="2466360" y="3961440"/>
            <a:ext cx="29880" cy="62208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34"/>
          <p:cNvSpPr/>
          <p:nvPr/>
        </p:nvSpPr>
        <p:spPr>
          <a:xfrm>
            <a:off x="2496240" y="3892320"/>
            <a:ext cx="147600" cy="14760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35"/>
          <p:cNvSpPr/>
          <p:nvPr/>
        </p:nvSpPr>
        <p:spPr>
          <a:xfrm>
            <a:off x="2466360" y="2924280"/>
            <a:ext cx="29880" cy="145188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36"/>
          <p:cNvSpPr/>
          <p:nvPr/>
        </p:nvSpPr>
        <p:spPr>
          <a:xfrm>
            <a:off x="2466360" y="3339360"/>
            <a:ext cx="29880" cy="103680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37"/>
          <p:cNvSpPr/>
          <p:nvPr/>
        </p:nvSpPr>
        <p:spPr>
          <a:xfrm>
            <a:off x="2466360" y="3754080"/>
            <a:ext cx="29880" cy="62208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38"/>
          <p:cNvSpPr/>
          <p:nvPr/>
        </p:nvSpPr>
        <p:spPr>
          <a:xfrm>
            <a:off x="2466360" y="4168800"/>
            <a:ext cx="29880" cy="20736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39"/>
          <p:cNvSpPr/>
          <p:nvPr/>
        </p:nvSpPr>
        <p:spPr>
          <a:xfrm flipV="1">
            <a:off x="2466360" y="4376160"/>
            <a:ext cx="29880" cy="20736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40"/>
          <p:cNvSpPr/>
          <p:nvPr/>
        </p:nvSpPr>
        <p:spPr>
          <a:xfrm>
            <a:off x="2496240" y="4307040"/>
            <a:ext cx="147600" cy="14760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41"/>
          <p:cNvSpPr/>
          <p:nvPr/>
        </p:nvSpPr>
        <p:spPr>
          <a:xfrm>
            <a:off x="2466360" y="2924280"/>
            <a:ext cx="29880" cy="186660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42"/>
          <p:cNvSpPr/>
          <p:nvPr/>
        </p:nvSpPr>
        <p:spPr>
          <a:xfrm>
            <a:off x="2466360" y="3339360"/>
            <a:ext cx="29880" cy="145152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43"/>
          <p:cNvSpPr/>
          <p:nvPr/>
        </p:nvSpPr>
        <p:spPr>
          <a:xfrm>
            <a:off x="2466360" y="3754080"/>
            <a:ext cx="29880" cy="103680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44"/>
          <p:cNvSpPr/>
          <p:nvPr/>
        </p:nvSpPr>
        <p:spPr>
          <a:xfrm>
            <a:off x="2466360" y="4168800"/>
            <a:ext cx="29880" cy="62208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45"/>
          <p:cNvSpPr/>
          <p:nvPr/>
        </p:nvSpPr>
        <p:spPr>
          <a:xfrm>
            <a:off x="2466360" y="4583520"/>
            <a:ext cx="29880" cy="20736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46"/>
          <p:cNvSpPr/>
          <p:nvPr/>
        </p:nvSpPr>
        <p:spPr>
          <a:xfrm>
            <a:off x="2496240" y="4722120"/>
            <a:ext cx="147600" cy="14760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47"/>
          <p:cNvSpPr/>
          <p:nvPr/>
        </p:nvSpPr>
        <p:spPr>
          <a:xfrm>
            <a:off x="3750480" y="2716920"/>
            <a:ext cx="29520" cy="41508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48"/>
          <p:cNvSpPr/>
          <p:nvPr/>
        </p:nvSpPr>
        <p:spPr>
          <a:xfrm>
            <a:off x="3750480" y="3132000"/>
            <a:ext cx="29520" cy="36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49"/>
          <p:cNvSpPr/>
          <p:nvPr/>
        </p:nvSpPr>
        <p:spPr>
          <a:xfrm flipV="1">
            <a:off x="3750480" y="3132000"/>
            <a:ext cx="29520" cy="41472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50"/>
          <p:cNvSpPr/>
          <p:nvPr/>
        </p:nvSpPr>
        <p:spPr>
          <a:xfrm flipV="1">
            <a:off x="3750480" y="3132000"/>
            <a:ext cx="29520" cy="82944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51"/>
          <p:cNvSpPr/>
          <p:nvPr/>
        </p:nvSpPr>
        <p:spPr>
          <a:xfrm flipV="1">
            <a:off x="3750480" y="3132000"/>
            <a:ext cx="29520" cy="124416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52"/>
          <p:cNvSpPr/>
          <p:nvPr/>
        </p:nvSpPr>
        <p:spPr>
          <a:xfrm flipV="1">
            <a:off x="3750480" y="3132000"/>
            <a:ext cx="29520" cy="165888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53"/>
          <p:cNvSpPr/>
          <p:nvPr/>
        </p:nvSpPr>
        <p:spPr>
          <a:xfrm>
            <a:off x="3780000" y="3062880"/>
            <a:ext cx="147600" cy="147600"/>
          </a:xfrm>
          <a:prstGeom prst="ellipse">
            <a:avLst/>
          </a:prstGeom>
          <a:solidFill>
            <a:srgbClr val="B38A49"/>
          </a:solidFill>
          <a:ln w="10160">
            <a:solidFill>
              <a:srgbClr val="B38A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54"/>
          <p:cNvSpPr/>
          <p:nvPr/>
        </p:nvSpPr>
        <p:spPr>
          <a:xfrm>
            <a:off x="3750480" y="2716920"/>
            <a:ext cx="29520" cy="82980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55"/>
          <p:cNvSpPr/>
          <p:nvPr/>
        </p:nvSpPr>
        <p:spPr>
          <a:xfrm>
            <a:off x="3750480" y="3132000"/>
            <a:ext cx="29520" cy="41472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56"/>
          <p:cNvSpPr/>
          <p:nvPr/>
        </p:nvSpPr>
        <p:spPr>
          <a:xfrm>
            <a:off x="3750480" y="3546720"/>
            <a:ext cx="29520" cy="36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57"/>
          <p:cNvSpPr/>
          <p:nvPr/>
        </p:nvSpPr>
        <p:spPr>
          <a:xfrm flipV="1">
            <a:off x="3750480" y="3546720"/>
            <a:ext cx="29520" cy="41472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58"/>
          <p:cNvSpPr/>
          <p:nvPr/>
        </p:nvSpPr>
        <p:spPr>
          <a:xfrm flipV="1">
            <a:off x="3750480" y="3546720"/>
            <a:ext cx="29520" cy="82944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59"/>
          <p:cNvSpPr/>
          <p:nvPr/>
        </p:nvSpPr>
        <p:spPr>
          <a:xfrm flipV="1">
            <a:off x="3750480" y="3546720"/>
            <a:ext cx="29520" cy="124416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60"/>
          <p:cNvSpPr/>
          <p:nvPr/>
        </p:nvSpPr>
        <p:spPr>
          <a:xfrm>
            <a:off x="3780000" y="3477600"/>
            <a:ext cx="147600" cy="147600"/>
          </a:xfrm>
          <a:prstGeom prst="ellipse">
            <a:avLst/>
          </a:prstGeom>
          <a:solidFill>
            <a:srgbClr val="B38A49"/>
          </a:solidFill>
          <a:ln w="10160">
            <a:solidFill>
              <a:srgbClr val="B38A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61"/>
          <p:cNvSpPr/>
          <p:nvPr/>
        </p:nvSpPr>
        <p:spPr>
          <a:xfrm>
            <a:off x="3750480" y="2716920"/>
            <a:ext cx="29520" cy="124452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62"/>
          <p:cNvSpPr/>
          <p:nvPr/>
        </p:nvSpPr>
        <p:spPr>
          <a:xfrm>
            <a:off x="3750480" y="3132000"/>
            <a:ext cx="29520" cy="82944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63"/>
          <p:cNvSpPr/>
          <p:nvPr/>
        </p:nvSpPr>
        <p:spPr>
          <a:xfrm>
            <a:off x="3750480" y="3546720"/>
            <a:ext cx="29520" cy="41472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64"/>
          <p:cNvSpPr/>
          <p:nvPr/>
        </p:nvSpPr>
        <p:spPr>
          <a:xfrm>
            <a:off x="3750480" y="3961440"/>
            <a:ext cx="29520" cy="36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65"/>
          <p:cNvSpPr/>
          <p:nvPr/>
        </p:nvSpPr>
        <p:spPr>
          <a:xfrm flipV="1">
            <a:off x="3750480" y="3961440"/>
            <a:ext cx="29520" cy="41472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66"/>
          <p:cNvSpPr/>
          <p:nvPr/>
        </p:nvSpPr>
        <p:spPr>
          <a:xfrm flipV="1">
            <a:off x="3750480" y="3961440"/>
            <a:ext cx="29520" cy="82944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67"/>
          <p:cNvSpPr/>
          <p:nvPr/>
        </p:nvSpPr>
        <p:spPr>
          <a:xfrm>
            <a:off x="3780000" y="3892320"/>
            <a:ext cx="147600" cy="147600"/>
          </a:xfrm>
          <a:prstGeom prst="ellipse">
            <a:avLst/>
          </a:prstGeom>
          <a:solidFill>
            <a:srgbClr val="B38A49"/>
          </a:solidFill>
          <a:ln w="10160">
            <a:solidFill>
              <a:srgbClr val="B38A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68"/>
          <p:cNvSpPr/>
          <p:nvPr/>
        </p:nvSpPr>
        <p:spPr>
          <a:xfrm>
            <a:off x="3750480" y="2716920"/>
            <a:ext cx="29520" cy="165924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69"/>
          <p:cNvSpPr/>
          <p:nvPr/>
        </p:nvSpPr>
        <p:spPr>
          <a:xfrm>
            <a:off x="3750480" y="3132000"/>
            <a:ext cx="29520" cy="124416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70"/>
          <p:cNvSpPr/>
          <p:nvPr/>
        </p:nvSpPr>
        <p:spPr>
          <a:xfrm>
            <a:off x="3750480" y="3546720"/>
            <a:ext cx="29520" cy="82944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71"/>
          <p:cNvSpPr/>
          <p:nvPr/>
        </p:nvSpPr>
        <p:spPr>
          <a:xfrm>
            <a:off x="3750480" y="3961440"/>
            <a:ext cx="29520" cy="41472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72"/>
          <p:cNvSpPr/>
          <p:nvPr/>
        </p:nvSpPr>
        <p:spPr>
          <a:xfrm>
            <a:off x="3750480" y="4376160"/>
            <a:ext cx="29520" cy="36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73"/>
          <p:cNvSpPr/>
          <p:nvPr/>
        </p:nvSpPr>
        <p:spPr>
          <a:xfrm flipV="1">
            <a:off x="3750480" y="4376160"/>
            <a:ext cx="29520" cy="414720"/>
          </a:xfrm>
          <a:prstGeom prst="line">
            <a:avLst/>
          </a:prstGeom>
          <a:ln w="5715">
            <a:solidFill>
              <a:srgbClr val="B1C2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74"/>
          <p:cNvSpPr/>
          <p:nvPr/>
        </p:nvSpPr>
        <p:spPr>
          <a:xfrm>
            <a:off x="3780000" y="4307040"/>
            <a:ext cx="147600" cy="147600"/>
          </a:xfrm>
          <a:prstGeom prst="ellipse">
            <a:avLst/>
          </a:prstGeom>
          <a:solidFill>
            <a:srgbClr val="B38A49"/>
          </a:solidFill>
          <a:ln w="10160">
            <a:solidFill>
              <a:srgbClr val="B38A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75"/>
          <p:cNvSpPr/>
          <p:nvPr/>
        </p:nvSpPr>
        <p:spPr>
          <a:xfrm>
            <a:off x="914400" y="5074920"/>
            <a:ext cx="1142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Input layer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76"/>
          <p:cNvSpPr/>
          <p:nvPr/>
        </p:nvSpPr>
        <p:spPr>
          <a:xfrm>
            <a:off x="2322720" y="5074920"/>
            <a:ext cx="1279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Hidden layers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77"/>
          <p:cNvSpPr/>
          <p:nvPr/>
        </p:nvSpPr>
        <p:spPr>
          <a:xfrm>
            <a:off x="4169520" y="5074920"/>
            <a:ext cx="7311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B38A49"/>
                </a:solidFill>
                <a:effectLst/>
                <a:uFillTx/>
                <a:latin typeface="Aptos"/>
                <a:ea typeface="Aptos"/>
              </a:rPr>
              <a:t>Output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78"/>
          <p:cNvSpPr/>
          <p:nvPr/>
        </p:nvSpPr>
        <p:spPr>
          <a:xfrm>
            <a:off x="877680" y="539496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Temperature • Humidity • Pressure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Wind speed • Previous rainfall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79"/>
          <p:cNvSpPr/>
          <p:nvPr/>
        </p:nvSpPr>
        <p:spPr>
          <a:xfrm>
            <a:off x="4005000" y="5422320"/>
            <a:ext cx="1142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Rainfall (mm)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80"/>
          <p:cNvSpPr/>
          <p:nvPr/>
        </p:nvSpPr>
        <p:spPr>
          <a:xfrm>
            <a:off x="6327720" y="1801440"/>
            <a:ext cx="5211720" cy="4242600"/>
          </a:xfrm>
          <a:prstGeom prst="roundRect">
            <a:avLst>
              <a:gd name="adj" fmla="val 1724"/>
            </a:avLst>
          </a:prstGeom>
          <a:solidFill>
            <a:srgbClr val="FBF8F1"/>
          </a:solidFill>
          <a:ln w="10160">
            <a:solidFill>
              <a:srgbClr val="C7C0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81"/>
          <p:cNvSpPr/>
          <p:nvPr/>
        </p:nvSpPr>
        <p:spPr>
          <a:xfrm>
            <a:off x="6583680" y="2039040"/>
            <a:ext cx="2011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111">
                <a:solidFill>
                  <a:srgbClr val="B38A49"/>
                </a:solidFill>
                <a:effectLst/>
                <a:uFillTx/>
                <a:latin typeface="Aptos"/>
                <a:ea typeface="Aptos"/>
              </a:rPr>
              <a:t>B  •  FUZZY LOGIC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82"/>
          <p:cNvSpPr/>
          <p:nvPr/>
        </p:nvSpPr>
        <p:spPr>
          <a:xfrm>
            <a:off x="6583680" y="238644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Risk assessment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83"/>
          <p:cNvSpPr/>
          <p:nvPr/>
        </p:nvSpPr>
        <p:spPr>
          <a:xfrm>
            <a:off x="6583680" y="2743200"/>
            <a:ext cx="41601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Gradual membership rather than hard thresholds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84"/>
          <p:cNvSpPr/>
          <p:nvPr/>
        </p:nvSpPr>
        <p:spPr>
          <a:xfrm>
            <a:off x="6720840" y="4471200"/>
            <a:ext cx="4160520" cy="360"/>
          </a:xfrm>
          <a:prstGeom prst="line">
            <a:avLst/>
          </a:prstGeom>
          <a:ln w="12700">
            <a:solidFill>
              <a:srgbClr val="8B8E8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85"/>
          <p:cNvSpPr/>
          <p:nvPr/>
        </p:nvSpPr>
        <p:spPr>
          <a:xfrm flipV="1">
            <a:off x="6720840" y="3227760"/>
            <a:ext cx="360" cy="1243440"/>
          </a:xfrm>
          <a:prstGeom prst="line">
            <a:avLst/>
          </a:prstGeom>
          <a:ln w="12700">
            <a:solidFill>
              <a:srgbClr val="8B8E8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86"/>
          <p:cNvSpPr/>
          <p:nvPr/>
        </p:nvSpPr>
        <p:spPr>
          <a:xfrm flipV="1">
            <a:off x="6720840" y="4379760"/>
            <a:ext cx="360" cy="91440"/>
          </a:xfrm>
          <a:prstGeom prst="line">
            <a:avLst/>
          </a:prstGeom>
          <a:ln w="10160">
            <a:solidFill>
              <a:srgbClr val="BDB6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87"/>
          <p:cNvSpPr/>
          <p:nvPr/>
        </p:nvSpPr>
        <p:spPr>
          <a:xfrm flipV="1">
            <a:off x="8093520" y="4379760"/>
            <a:ext cx="360" cy="91440"/>
          </a:xfrm>
          <a:prstGeom prst="line">
            <a:avLst/>
          </a:prstGeom>
          <a:ln w="10160">
            <a:solidFill>
              <a:srgbClr val="BDB6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88"/>
          <p:cNvSpPr/>
          <p:nvPr/>
        </p:nvSpPr>
        <p:spPr>
          <a:xfrm flipV="1">
            <a:off x="9466560" y="4379760"/>
            <a:ext cx="360" cy="91440"/>
          </a:xfrm>
          <a:prstGeom prst="line">
            <a:avLst/>
          </a:prstGeom>
          <a:ln w="10160">
            <a:solidFill>
              <a:srgbClr val="BDB6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89"/>
          <p:cNvSpPr/>
          <p:nvPr/>
        </p:nvSpPr>
        <p:spPr>
          <a:xfrm flipV="1">
            <a:off x="10881360" y="4379760"/>
            <a:ext cx="360" cy="91440"/>
          </a:xfrm>
          <a:prstGeom prst="line">
            <a:avLst/>
          </a:prstGeom>
          <a:ln w="10160">
            <a:solidFill>
              <a:srgbClr val="BDB6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90"/>
          <p:cNvSpPr/>
          <p:nvPr/>
        </p:nvSpPr>
        <p:spPr>
          <a:xfrm flipV="1">
            <a:off x="6720840" y="3289680"/>
            <a:ext cx="748800" cy="1181520"/>
          </a:xfrm>
          <a:prstGeom prst="line">
            <a:avLst/>
          </a:prstGeom>
          <a:ln w="2921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91"/>
          <p:cNvSpPr/>
          <p:nvPr/>
        </p:nvSpPr>
        <p:spPr>
          <a:xfrm>
            <a:off x="7469640" y="3289680"/>
            <a:ext cx="831960" cy="1181520"/>
          </a:xfrm>
          <a:prstGeom prst="line">
            <a:avLst/>
          </a:prstGeom>
          <a:ln w="2921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92"/>
          <p:cNvSpPr/>
          <p:nvPr/>
        </p:nvSpPr>
        <p:spPr>
          <a:xfrm>
            <a:off x="7030800" y="3026520"/>
            <a:ext cx="8773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2F6D5B"/>
                </a:solidFill>
                <a:effectLst/>
                <a:uFillTx/>
                <a:latin typeface="Aptos"/>
                <a:ea typeface="Aptos"/>
              </a:rPr>
              <a:t>LOW</a:t>
            </a:r>
            <a:endParaRPr lang="en-US" sz="6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93"/>
          <p:cNvSpPr/>
          <p:nvPr/>
        </p:nvSpPr>
        <p:spPr>
          <a:xfrm flipV="1">
            <a:off x="7469640" y="3289680"/>
            <a:ext cx="1040040" cy="1181520"/>
          </a:xfrm>
          <a:prstGeom prst="line">
            <a:avLst/>
          </a:prstGeom>
          <a:ln w="29210">
            <a:solidFill>
              <a:srgbClr val="678C9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94"/>
          <p:cNvSpPr/>
          <p:nvPr/>
        </p:nvSpPr>
        <p:spPr>
          <a:xfrm>
            <a:off x="8509680" y="3289680"/>
            <a:ext cx="998640" cy="1181520"/>
          </a:xfrm>
          <a:prstGeom prst="line">
            <a:avLst/>
          </a:prstGeom>
          <a:ln w="29210">
            <a:solidFill>
              <a:srgbClr val="678C9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95"/>
          <p:cNvSpPr/>
          <p:nvPr/>
        </p:nvSpPr>
        <p:spPr>
          <a:xfrm>
            <a:off x="8070840" y="3026520"/>
            <a:ext cx="8773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678C9C"/>
                </a:solidFill>
                <a:effectLst/>
                <a:uFillTx/>
                <a:latin typeface="Aptos"/>
                <a:ea typeface="Aptos"/>
              </a:rPr>
              <a:t>MODERATE</a:t>
            </a:r>
            <a:endParaRPr lang="en-US" sz="6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96"/>
          <p:cNvSpPr/>
          <p:nvPr/>
        </p:nvSpPr>
        <p:spPr>
          <a:xfrm flipV="1">
            <a:off x="8717760" y="3289680"/>
            <a:ext cx="998640" cy="1181520"/>
          </a:xfrm>
          <a:prstGeom prst="line">
            <a:avLst/>
          </a:prstGeom>
          <a:ln w="29210">
            <a:solidFill>
              <a:srgbClr val="B38A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97"/>
          <p:cNvSpPr/>
          <p:nvPr/>
        </p:nvSpPr>
        <p:spPr>
          <a:xfrm>
            <a:off x="9716400" y="3289680"/>
            <a:ext cx="873720" cy="1181520"/>
          </a:xfrm>
          <a:prstGeom prst="line">
            <a:avLst/>
          </a:prstGeom>
          <a:ln w="29210">
            <a:solidFill>
              <a:srgbClr val="B38A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98"/>
          <p:cNvSpPr/>
          <p:nvPr/>
        </p:nvSpPr>
        <p:spPr>
          <a:xfrm>
            <a:off x="9277560" y="3026520"/>
            <a:ext cx="8773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B38A49"/>
                </a:solidFill>
                <a:effectLst/>
                <a:uFillTx/>
                <a:latin typeface="Aptos"/>
                <a:ea typeface="Aptos"/>
              </a:rPr>
              <a:t>HIGH</a:t>
            </a:r>
            <a:endParaRPr lang="en-US" sz="6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99"/>
          <p:cNvSpPr/>
          <p:nvPr/>
        </p:nvSpPr>
        <p:spPr>
          <a:xfrm flipV="1">
            <a:off x="9757800" y="3289680"/>
            <a:ext cx="665640" cy="1181520"/>
          </a:xfrm>
          <a:prstGeom prst="line">
            <a:avLst/>
          </a:prstGeom>
          <a:ln w="29210">
            <a:solidFill>
              <a:srgbClr val="A964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100"/>
          <p:cNvSpPr/>
          <p:nvPr/>
        </p:nvSpPr>
        <p:spPr>
          <a:xfrm>
            <a:off x="10423440" y="3289680"/>
            <a:ext cx="457920" cy="248760"/>
          </a:xfrm>
          <a:prstGeom prst="line">
            <a:avLst/>
          </a:prstGeom>
          <a:ln w="29210">
            <a:solidFill>
              <a:srgbClr val="A964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101"/>
          <p:cNvSpPr/>
          <p:nvPr/>
        </p:nvSpPr>
        <p:spPr>
          <a:xfrm>
            <a:off x="9984960" y="3026520"/>
            <a:ext cx="8773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A96455"/>
                </a:solidFill>
                <a:effectLst/>
                <a:uFillTx/>
                <a:latin typeface="Aptos"/>
                <a:ea typeface="Aptos"/>
              </a:rPr>
              <a:t>VERY HIGH</a:t>
            </a:r>
            <a:endParaRPr lang="en-US" sz="6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102"/>
          <p:cNvSpPr/>
          <p:nvPr/>
        </p:nvSpPr>
        <p:spPr>
          <a:xfrm>
            <a:off x="6684120" y="4544640"/>
            <a:ext cx="13680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03"/>
          <p:cNvSpPr/>
          <p:nvPr/>
        </p:nvSpPr>
        <p:spPr>
          <a:xfrm>
            <a:off x="6537960" y="3209400"/>
            <a:ext cx="22824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1.0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104"/>
          <p:cNvSpPr/>
          <p:nvPr/>
        </p:nvSpPr>
        <p:spPr>
          <a:xfrm>
            <a:off x="7498080" y="4654440"/>
            <a:ext cx="219420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normalized rainfall / risk input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105"/>
          <p:cNvSpPr/>
          <p:nvPr/>
        </p:nvSpPr>
        <p:spPr>
          <a:xfrm>
            <a:off x="6711840" y="4791600"/>
            <a:ext cx="4224240" cy="703800"/>
          </a:xfrm>
          <a:prstGeom prst="roundRect">
            <a:avLst>
              <a:gd name="adj" fmla="val 10390"/>
            </a:avLst>
          </a:prstGeom>
          <a:solidFill>
            <a:srgbClr val="EAE7DE"/>
          </a:solidFill>
          <a:ln w="10160">
            <a:solidFill>
              <a:srgbClr val="D5CEC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06"/>
          <p:cNvSpPr/>
          <p:nvPr/>
        </p:nvSpPr>
        <p:spPr>
          <a:xfrm>
            <a:off x="6931080" y="4883040"/>
            <a:ext cx="374868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1D2722"/>
                </a:solidFill>
                <a:effectLst/>
                <a:uFillTx/>
                <a:latin typeface="Aptos"/>
                <a:ea typeface="Aptos"/>
              </a:rPr>
              <a:t>IF rainfall is HIGH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1D2722"/>
                </a:solidFill>
                <a:effectLst/>
                <a:uFillTx/>
                <a:latin typeface="Aptos"/>
                <a:ea typeface="Aptos"/>
              </a:rPr>
              <a:t>AND humidity is HIGH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1D2722"/>
                </a:solidFill>
                <a:effectLst/>
                <a:uFillTx/>
                <a:latin typeface="Aptos"/>
                <a:ea typeface="Aptos"/>
              </a:rPr>
              <a:t>THEN risk is VERY HIGH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107"/>
          <p:cNvSpPr/>
          <p:nvPr/>
        </p:nvSpPr>
        <p:spPr>
          <a:xfrm>
            <a:off x="6739200" y="5623560"/>
            <a:ext cx="40687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2F6D5B"/>
                </a:solidFill>
                <a:effectLst/>
                <a:uFillTx/>
                <a:latin typeface="Georgia"/>
                <a:ea typeface="Georgia"/>
              </a:rPr>
              <a:t>Low  →  Moderate  →  High  →  Very High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108"/>
          <p:cNvSpPr/>
          <p:nvPr/>
        </p:nvSpPr>
        <p:spPr>
          <a:xfrm>
            <a:off x="612720" y="6291000"/>
            <a:ext cx="10698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i="1" u="none" strike="noStrike">
                <a:solidFill>
                  <a:srgbClr val="817B70"/>
                </a:solidFill>
                <a:effectLst/>
                <a:uFillTx/>
                <a:latin typeface="Aptos"/>
                <a:ea typeface="Aptos"/>
              </a:rPr>
              <a:t>Methodology follows the project proposal: ANN for rainfall amount, followed by Fuzzy Logic for interpretable risk assessment.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PlaceHolder 1"/>
          <p:cNvSpPr>
            <a:spLocks noGrp="1"/>
          </p:cNvSpPr>
          <p:nvPr>
            <p:ph type="sldNum" idx="10"/>
          </p:nvPr>
        </p:nvSpPr>
        <p:spPr>
          <a:xfrm>
            <a:off x="11685960" y="6565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7E786D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3AC5185-3A47-4FC1-975D-E6A259ECB460}" type="slidenum">
              <a:rPr lang="en-US" sz="700" b="0" u="none" strike="noStrike">
                <a:solidFill>
                  <a:srgbClr val="7E786D"/>
                </a:solidFill>
                <a:effectLst/>
                <a:uFillTx/>
                <a:latin typeface="Aptos"/>
                <a:ea typeface="Aptos"/>
              </a:rPr>
              <a:t>6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Text 0"/>
          <p:cNvSpPr/>
          <p:nvPr/>
        </p:nvSpPr>
        <p:spPr>
          <a:xfrm>
            <a:off x="594360" y="384120"/>
            <a:ext cx="50288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 spc="150">
                <a:solidFill>
                  <a:srgbClr val="B38A49"/>
                </a:solidFill>
                <a:effectLst/>
                <a:uFillTx/>
                <a:latin typeface="Aptos"/>
                <a:ea typeface="Aptos"/>
              </a:rPr>
              <a:t>06  /  SYSTEM ARCHITECTURE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1"/>
          <p:cNvSpPr/>
          <p:nvPr/>
        </p:nvSpPr>
        <p:spPr>
          <a:xfrm>
            <a:off x="594360" y="667440"/>
            <a:ext cx="1088100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From weather observations to an interpretable risk signal.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2"/>
          <p:cNvSpPr/>
          <p:nvPr/>
        </p:nvSpPr>
        <p:spPr>
          <a:xfrm>
            <a:off x="612720" y="1252800"/>
            <a:ext cx="10698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Each stage has a defined role in the proposed system.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3"/>
          <p:cNvSpPr/>
          <p:nvPr/>
        </p:nvSpPr>
        <p:spPr>
          <a:xfrm>
            <a:off x="621720" y="2331720"/>
            <a:ext cx="1444320" cy="2057040"/>
          </a:xfrm>
          <a:prstGeom prst="roundRect">
            <a:avLst>
              <a:gd name="adj" fmla="val 5063"/>
            </a:avLst>
          </a:prstGeom>
          <a:solidFill>
            <a:srgbClr val="FBF8F1"/>
          </a:solidFill>
          <a:ln w="10160">
            <a:solidFill>
              <a:srgbClr val="C7C0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4"/>
          <p:cNvSpPr/>
          <p:nvPr/>
        </p:nvSpPr>
        <p:spPr>
          <a:xfrm>
            <a:off x="768240" y="2541960"/>
            <a:ext cx="264960" cy="26496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5"/>
          <p:cNvSpPr/>
          <p:nvPr/>
        </p:nvSpPr>
        <p:spPr>
          <a:xfrm>
            <a:off x="768240" y="2597040"/>
            <a:ext cx="26496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01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6"/>
          <p:cNvSpPr/>
          <p:nvPr/>
        </p:nvSpPr>
        <p:spPr>
          <a:xfrm>
            <a:off x="768240" y="2980800"/>
            <a:ext cx="1151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HISTORICAL DATA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7"/>
          <p:cNvSpPr/>
          <p:nvPr/>
        </p:nvSpPr>
        <p:spPr>
          <a:xfrm>
            <a:off x="768240" y="3529440"/>
            <a:ext cx="1151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Weather observations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8"/>
          <p:cNvSpPr/>
          <p:nvPr/>
        </p:nvSpPr>
        <p:spPr>
          <a:xfrm>
            <a:off x="2084760" y="3346560"/>
            <a:ext cx="100440" cy="360"/>
          </a:xfrm>
          <a:prstGeom prst="line">
            <a:avLst/>
          </a:prstGeom>
          <a:ln w="15240">
            <a:solidFill>
              <a:srgbClr val="2F6D5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9"/>
          <p:cNvSpPr/>
          <p:nvPr/>
        </p:nvSpPr>
        <p:spPr>
          <a:xfrm>
            <a:off x="2203560" y="2331720"/>
            <a:ext cx="1444320" cy="2057040"/>
          </a:xfrm>
          <a:prstGeom prst="roundRect">
            <a:avLst>
              <a:gd name="adj" fmla="val 5063"/>
            </a:avLst>
          </a:prstGeom>
          <a:solidFill>
            <a:srgbClr val="FBF8F1"/>
          </a:solidFill>
          <a:ln w="10160">
            <a:solidFill>
              <a:srgbClr val="C7C0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10"/>
          <p:cNvSpPr/>
          <p:nvPr/>
        </p:nvSpPr>
        <p:spPr>
          <a:xfrm>
            <a:off x="2350080" y="2541960"/>
            <a:ext cx="264960" cy="26496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11"/>
          <p:cNvSpPr/>
          <p:nvPr/>
        </p:nvSpPr>
        <p:spPr>
          <a:xfrm>
            <a:off x="2350080" y="2597040"/>
            <a:ext cx="26496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12"/>
          <p:cNvSpPr/>
          <p:nvPr/>
        </p:nvSpPr>
        <p:spPr>
          <a:xfrm>
            <a:off x="2350080" y="2980800"/>
            <a:ext cx="1151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PREPROCESS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13"/>
          <p:cNvSpPr/>
          <p:nvPr/>
        </p:nvSpPr>
        <p:spPr>
          <a:xfrm>
            <a:off x="2350080" y="3529440"/>
            <a:ext cx="1151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Clean • select • scale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14"/>
          <p:cNvSpPr/>
          <p:nvPr/>
        </p:nvSpPr>
        <p:spPr>
          <a:xfrm>
            <a:off x="3666600" y="3346560"/>
            <a:ext cx="100440" cy="360"/>
          </a:xfrm>
          <a:prstGeom prst="line">
            <a:avLst/>
          </a:prstGeom>
          <a:ln w="15240">
            <a:solidFill>
              <a:srgbClr val="2F6D5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15"/>
          <p:cNvSpPr/>
          <p:nvPr/>
        </p:nvSpPr>
        <p:spPr>
          <a:xfrm>
            <a:off x="3785760" y="2331720"/>
            <a:ext cx="1444320" cy="2057040"/>
          </a:xfrm>
          <a:prstGeom prst="roundRect">
            <a:avLst>
              <a:gd name="adj" fmla="val 5063"/>
            </a:avLst>
          </a:prstGeom>
          <a:solidFill>
            <a:srgbClr val="FBF8F1"/>
          </a:solidFill>
          <a:ln w="10160">
            <a:solidFill>
              <a:srgbClr val="C7C0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16"/>
          <p:cNvSpPr/>
          <p:nvPr/>
        </p:nvSpPr>
        <p:spPr>
          <a:xfrm>
            <a:off x="3931920" y="2541960"/>
            <a:ext cx="264960" cy="26496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17"/>
          <p:cNvSpPr/>
          <p:nvPr/>
        </p:nvSpPr>
        <p:spPr>
          <a:xfrm>
            <a:off x="3931920" y="2597040"/>
            <a:ext cx="26496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18"/>
          <p:cNvSpPr/>
          <p:nvPr/>
        </p:nvSpPr>
        <p:spPr>
          <a:xfrm>
            <a:off x="3931920" y="2980800"/>
            <a:ext cx="1151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ANN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19"/>
          <p:cNvSpPr/>
          <p:nvPr/>
        </p:nvSpPr>
        <p:spPr>
          <a:xfrm>
            <a:off x="3931920" y="3529440"/>
            <a:ext cx="1151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Learn nonlinear patterns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20"/>
          <p:cNvSpPr/>
          <p:nvPr/>
        </p:nvSpPr>
        <p:spPr>
          <a:xfrm>
            <a:off x="5248440" y="3346560"/>
            <a:ext cx="100800" cy="360"/>
          </a:xfrm>
          <a:prstGeom prst="line">
            <a:avLst/>
          </a:prstGeom>
          <a:ln w="15240">
            <a:solidFill>
              <a:srgbClr val="2F6D5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21"/>
          <p:cNvSpPr/>
          <p:nvPr/>
        </p:nvSpPr>
        <p:spPr>
          <a:xfrm>
            <a:off x="5367600" y="2331720"/>
            <a:ext cx="1444320" cy="2057040"/>
          </a:xfrm>
          <a:prstGeom prst="roundRect">
            <a:avLst>
              <a:gd name="adj" fmla="val 5063"/>
            </a:avLst>
          </a:prstGeom>
          <a:solidFill>
            <a:srgbClr val="FBF8F1"/>
          </a:solidFill>
          <a:ln w="10160">
            <a:solidFill>
              <a:srgbClr val="C7C0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22"/>
          <p:cNvSpPr/>
          <p:nvPr/>
        </p:nvSpPr>
        <p:spPr>
          <a:xfrm>
            <a:off x="5513760" y="2541960"/>
            <a:ext cx="264960" cy="26496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23"/>
          <p:cNvSpPr/>
          <p:nvPr/>
        </p:nvSpPr>
        <p:spPr>
          <a:xfrm>
            <a:off x="5513760" y="2597040"/>
            <a:ext cx="26496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04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24"/>
          <p:cNvSpPr/>
          <p:nvPr/>
        </p:nvSpPr>
        <p:spPr>
          <a:xfrm>
            <a:off x="5513760" y="2980800"/>
            <a:ext cx="1151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PREDICT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25"/>
          <p:cNvSpPr/>
          <p:nvPr/>
        </p:nvSpPr>
        <p:spPr>
          <a:xfrm>
            <a:off x="5513760" y="3529440"/>
            <a:ext cx="1151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Rainfall amount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26"/>
          <p:cNvSpPr/>
          <p:nvPr/>
        </p:nvSpPr>
        <p:spPr>
          <a:xfrm>
            <a:off x="6830280" y="3346560"/>
            <a:ext cx="100800" cy="360"/>
          </a:xfrm>
          <a:prstGeom prst="line">
            <a:avLst/>
          </a:prstGeom>
          <a:ln w="15240">
            <a:solidFill>
              <a:srgbClr val="2F6D5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27"/>
          <p:cNvSpPr/>
          <p:nvPr/>
        </p:nvSpPr>
        <p:spPr>
          <a:xfrm>
            <a:off x="6949440" y="2331720"/>
            <a:ext cx="1444320" cy="2057040"/>
          </a:xfrm>
          <a:prstGeom prst="roundRect">
            <a:avLst>
              <a:gd name="adj" fmla="val 5063"/>
            </a:avLst>
          </a:prstGeom>
          <a:solidFill>
            <a:srgbClr val="FBF8F1"/>
          </a:solidFill>
          <a:ln w="10160">
            <a:solidFill>
              <a:srgbClr val="C7C0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28"/>
          <p:cNvSpPr/>
          <p:nvPr/>
        </p:nvSpPr>
        <p:spPr>
          <a:xfrm>
            <a:off x="7095600" y="2541960"/>
            <a:ext cx="264960" cy="26496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29"/>
          <p:cNvSpPr/>
          <p:nvPr/>
        </p:nvSpPr>
        <p:spPr>
          <a:xfrm>
            <a:off x="7095600" y="2597040"/>
            <a:ext cx="26496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05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30"/>
          <p:cNvSpPr/>
          <p:nvPr/>
        </p:nvSpPr>
        <p:spPr>
          <a:xfrm>
            <a:off x="7095600" y="2980800"/>
            <a:ext cx="1151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FUZZY LOGIC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31"/>
          <p:cNvSpPr/>
          <p:nvPr/>
        </p:nvSpPr>
        <p:spPr>
          <a:xfrm>
            <a:off x="7095600" y="3529440"/>
            <a:ext cx="1151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Apply linguistic rules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32"/>
          <p:cNvSpPr/>
          <p:nvPr/>
        </p:nvSpPr>
        <p:spPr>
          <a:xfrm>
            <a:off x="8412480" y="3346560"/>
            <a:ext cx="100440" cy="360"/>
          </a:xfrm>
          <a:prstGeom prst="line">
            <a:avLst/>
          </a:prstGeom>
          <a:ln w="15240">
            <a:solidFill>
              <a:srgbClr val="2F6D5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33"/>
          <p:cNvSpPr/>
          <p:nvPr/>
        </p:nvSpPr>
        <p:spPr>
          <a:xfrm>
            <a:off x="8531280" y="2331720"/>
            <a:ext cx="1444320" cy="2057040"/>
          </a:xfrm>
          <a:prstGeom prst="roundRect">
            <a:avLst>
              <a:gd name="adj" fmla="val 5063"/>
            </a:avLst>
          </a:prstGeom>
          <a:solidFill>
            <a:srgbClr val="F0E9D7"/>
          </a:solidFill>
          <a:ln w="10160">
            <a:solidFill>
              <a:srgbClr val="B38A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34"/>
          <p:cNvSpPr/>
          <p:nvPr/>
        </p:nvSpPr>
        <p:spPr>
          <a:xfrm>
            <a:off x="8677800" y="2541960"/>
            <a:ext cx="264960" cy="264960"/>
          </a:xfrm>
          <a:prstGeom prst="ellipse">
            <a:avLst/>
          </a:prstGeom>
          <a:solidFill>
            <a:srgbClr val="B38A49"/>
          </a:solidFill>
          <a:ln w="10160">
            <a:solidFill>
              <a:srgbClr val="B38A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35"/>
          <p:cNvSpPr/>
          <p:nvPr/>
        </p:nvSpPr>
        <p:spPr>
          <a:xfrm>
            <a:off x="8677800" y="2597040"/>
            <a:ext cx="26496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06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36"/>
          <p:cNvSpPr/>
          <p:nvPr/>
        </p:nvSpPr>
        <p:spPr>
          <a:xfrm>
            <a:off x="8677800" y="2980800"/>
            <a:ext cx="1151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RISK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37"/>
          <p:cNvSpPr/>
          <p:nvPr/>
        </p:nvSpPr>
        <p:spPr>
          <a:xfrm>
            <a:off x="8677800" y="3529440"/>
            <a:ext cx="1151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Low • Moderate • High • Very High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38"/>
          <p:cNvSpPr/>
          <p:nvPr/>
        </p:nvSpPr>
        <p:spPr>
          <a:xfrm>
            <a:off x="9994320" y="3346560"/>
            <a:ext cx="100440" cy="360"/>
          </a:xfrm>
          <a:prstGeom prst="line">
            <a:avLst/>
          </a:prstGeom>
          <a:ln w="15240">
            <a:solidFill>
              <a:srgbClr val="2F6D5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39"/>
          <p:cNvSpPr/>
          <p:nvPr/>
        </p:nvSpPr>
        <p:spPr>
          <a:xfrm>
            <a:off x="10113120" y="2331720"/>
            <a:ext cx="1444320" cy="2057040"/>
          </a:xfrm>
          <a:prstGeom prst="roundRect">
            <a:avLst>
              <a:gd name="adj" fmla="val 5063"/>
            </a:avLst>
          </a:prstGeom>
          <a:solidFill>
            <a:srgbClr val="FBF8F1"/>
          </a:solidFill>
          <a:ln w="10160">
            <a:solidFill>
              <a:srgbClr val="C7C0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40"/>
          <p:cNvSpPr/>
          <p:nvPr/>
        </p:nvSpPr>
        <p:spPr>
          <a:xfrm>
            <a:off x="10259640" y="2541960"/>
            <a:ext cx="264960" cy="26496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41"/>
          <p:cNvSpPr/>
          <p:nvPr/>
        </p:nvSpPr>
        <p:spPr>
          <a:xfrm>
            <a:off x="10259640" y="2597040"/>
            <a:ext cx="26496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07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42"/>
          <p:cNvSpPr/>
          <p:nvPr/>
        </p:nvSpPr>
        <p:spPr>
          <a:xfrm>
            <a:off x="10259640" y="2980800"/>
            <a:ext cx="1151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DASHBOARD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43"/>
          <p:cNvSpPr/>
          <p:nvPr/>
        </p:nvSpPr>
        <p:spPr>
          <a:xfrm>
            <a:off x="10259640" y="3529440"/>
            <a:ext cx="1151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Display result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44"/>
          <p:cNvSpPr/>
          <p:nvPr/>
        </p:nvSpPr>
        <p:spPr>
          <a:xfrm>
            <a:off x="621720" y="4754880"/>
            <a:ext cx="10917720" cy="1325520"/>
          </a:xfrm>
          <a:prstGeom prst="roundRect">
            <a:avLst>
              <a:gd name="adj" fmla="val 5517"/>
            </a:avLst>
          </a:prstGeom>
          <a:solidFill>
            <a:srgbClr val="EAE7DE"/>
          </a:solidFill>
          <a:ln w="10160">
            <a:solidFill>
              <a:srgbClr val="D5CEC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45"/>
          <p:cNvSpPr/>
          <p:nvPr/>
        </p:nvSpPr>
        <p:spPr>
          <a:xfrm>
            <a:off x="877680" y="501084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111">
                <a:solidFill>
                  <a:srgbClr val="B38A49"/>
                </a:solidFill>
                <a:effectLst/>
                <a:uFillTx/>
                <a:latin typeface="Aptos"/>
                <a:ea typeface="Aptos"/>
              </a:rPr>
              <a:t>PROPOSED USER OUTPUT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46"/>
          <p:cNvSpPr/>
          <p:nvPr/>
        </p:nvSpPr>
        <p:spPr>
          <a:xfrm>
            <a:off x="896040" y="5358240"/>
            <a:ext cx="15084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Predicted rainfall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47"/>
          <p:cNvSpPr/>
          <p:nvPr/>
        </p:nvSpPr>
        <p:spPr>
          <a:xfrm>
            <a:off x="2450520" y="535824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e.g.  rainfall = 38 mm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48"/>
          <p:cNvSpPr/>
          <p:nvPr/>
        </p:nvSpPr>
        <p:spPr>
          <a:xfrm>
            <a:off x="4389120" y="5468040"/>
            <a:ext cx="685800" cy="360"/>
          </a:xfrm>
          <a:prstGeom prst="line">
            <a:avLst/>
          </a:prstGeom>
          <a:ln w="15240">
            <a:solidFill>
              <a:srgbClr val="2F6D5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49"/>
          <p:cNvSpPr/>
          <p:nvPr/>
        </p:nvSpPr>
        <p:spPr>
          <a:xfrm>
            <a:off x="5321880" y="5358240"/>
            <a:ext cx="1170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Risk category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50"/>
          <p:cNvSpPr/>
          <p:nvPr/>
        </p:nvSpPr>
        <p:spPr>
          <a:xfrm>
            <a:off x="6629400" y="5294520"/>
            <a:ext cx="914040" cy="328680"/>
          </a:xfrm>
          <a:prstGeom prst="roundRect">
            <a:avLst>
              <a:gd name="adj" fmla="val 22222"/>
            </a:avLst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51"/>
          <p:cNvSpPr/>
          <p:nvPr/>
        </p:nvSpPr>
        <p:spPr>
          <a:xfrm>
            <a:off x="6629400" y="5385960"/>
            <a:ext cx="91404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6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LOW</a:t>
            </a:r>
            <a:endParaRPr lang="en-US" sz="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52"/>
          <p:cNvSpPr/>
          <p:nvPr/>
        </p:nvSpPr>
        <p:spPr>
          <a:xfrm>
            <a:off x="7708320" y="5294520"/>
            <a:ext cx="914040" cy="328680"/>
          </a:xfrm>
          <a:prstGeom prst="roundRect">
            <a:avLst>
              <a:gd name="adj" fmla="val 22222"/>
            </a:avLst>
          </a:prstGeom>
          <a:solidFill>
            <a:srgbClr val="678C9C"/>
          </a:solidFill>
          <a:ln w="10160">
            <a:solidFill>
              <a:srgbClr val="678C9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53"/>
          <p:cNvSpPr/>
          <p:nvPr/>
        </p:nvSpPr>
        <p:spPr>
          <a:xfrm>
            <a:off x="7708320" y="5385960"/>
            <a:ext cx="91404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6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MODERATE</a:t>
            </a:r>
            <a:endParaRPr lang="en-US" sz="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54"/>
          <p:cNvSpPr/>
          <p:nvPr/>
        </p:nvSpPr>
        <p:spPr>
          <a:xfrm>
            <a:off x="8787240" y="5294520"/>
            <a:ext cx="914040" cy="328680"/>
          </a:xfrm>
          <a:prstGeom prst="roundRect">
            <a:avLst>
              <a:gd name="adj" fmla="val 22222"/>
            </a:avLst>
          </a:prstGeom>
          <a:solidFill>
            <a:srgbClr val="B38A49"/>
          </a:solidFill>
          <a:ln w="10160">
            <a:solidFill>
              <a:srgbClr val="B38A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55"/>
          <p:cNvSpPr/>
          <p:nvPr/>
        </p:nvSpPr>
        <p:spPr>
          <a:xfrm>
            <a:off x="8787240" y="5385960"/>
            <a:ext cx="91404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6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HIGH</a:t>
            </a:r>
            <a:endParaRPr lang="en-US" sz="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56"/>
          <p:cNvSpPr/>
          <p:nvPr/>
        </p:nvSpPr>
        <p:spPr>
          <a:xfrm>
            <a:off x="9866520" y="5294520"/>
            <a:ext cx="914040" cy="328680"/>
          </a:xfrm>
          <a:prstGeom prst="roundRect">
            <a:avLst>
              <a:gd name="adj" fmla="val 22222"/>
            </a:avLst>
          </a:prstGeom>
          <a:solidFill>
            <a:srgbClr val="A96455"/>
          </a:solidFill>
          <a:ln w="10160">
            <a:solidFill>
              <a:srgbClr val="A964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57"/>
          <p:cNvSpPr/>
          <p:nvPr/>
        </p:nvSpPr>
        <p:spPr>
          <a:xfrm>
            <a:off x="9866520" y="5385960"/>
            <a:ext cx="91404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6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VERY HIGH</a:t>
            </a:r>
            <a:endParaRPr lang="en-US" sz="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58"/>
          <p:cNvSpPr/>
          <p:nvPr/>
        </p:nvSpPr>
        <p:spPr>
          <a:xfrm>
            <a:off x="6602040" y="5733360"/>
            <a:ext cx="42516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The dashboard presents both the numerical prediction and its interpreted risk level.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PlaceHolder 1"/>
          <p:cNvSpPr>
            <a:spLocks noGrp="1"/>
          </p:cNvSpPr>
          <p:nvPr>
            <p:ph type="sldNum" idx="11"/>
          </p:nvPr>
        </p:nvSpPr>
        <p:spPr>
          <a:xfrm>
            <a:off x="11685960" y="6565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7E786D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1571E63-C9DC-4064-87B1-74D8714B68CC}" type="slidenum">
              <a:rPr lang="en-US" sz="700" b="0" u="none" strike="noStrike">
                <a:solidFill>
                  <a:srgbClr val="7E786D"/>
                </a:solidFill>
                <a:effectLst/>
                <a:uFillTx/>
                <a:latin typeface="Aptos"/>
                <a:ea typeface="Aptos"/>
              </a:rPr>
              <a:t>7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Text 0"/>
          <p:cNvSpPr/>
          <p:nvPr/>
        </p:nvSpPr>
        <p:spPr>
          <a:xfrm>
            <a:off x="594360" y="384120"/>
            <a:ext cx="50288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 spc="150">
                <a:solidFill>
                  <a:srgbClr val="B38A49"/>
                </a:solidFill>
                <a:effectLst/>
                <a:uFillTx/>
                <a:latin typeface="Aptos"/>
                <a:ea typeface="Aptos"/>
              </a:rPr>
              <a:t>07  /  INITIAL PRODUCT / ARTICLE PROPOSAL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1"/>
          <p:cNvSpPr/>
          <p:nvPr/>
        </p:nvSpPr>
        <p:spPr>
          <a:xfrm>
            <a:off x="594360" y="667440"/>
            <a:ext cx="1088100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A software prototype with a clear path to an academic paper.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2"/>
          <p:cNvSpPr/>
          <p:nvPr/>
        </p:nvSpPr>
        <p:spPr>
          <a:xfrm>
            <a:off x="612720" y="1252800"/>
            <a:ext cx="10698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The proposed outcome is a working decision-support prototype, followed by experimental documentation.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3"/>
          <p:cNvSpPr/>
          <p:nvPr/>
        </p:nvSpPr>
        <p:spPr>
          <a:xfrm>
            <a:off x="612720" y="1810440"/>
            <a:ext cx="6720480" cy="4278960"/>
          </a:xfrm>
          <a:prstGeom prst="roundRect">
            <a:avLst>
              <a:gd name="adj" fmla="val 1709"/>
            </a:avLst>
          </a:prstGeom>
          <a:solidFill>
            <a:srgbClr val="FBF8F1"/>
          </a:solidFill>
          <a:ln w="10160">
            <a:solidFill>
              <a:srgbClr val="C7C0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4"/>
          <p:cNvSpPr/>
          <p:nvPr/>
        </p:nvSpPr>
        <p:spPr>
          <a:xfrm>
            <a:off x="868680" y="2048400"/>
            <a:ext cx="1828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111">
                <a:solidFill>
                  <a:srgbClr val="2F6D5B"/>
                </a:solidFill>
                <a:effectLst/>
                <a:uFillTx/>
                <a:latin typeface="Aptos"/>
                <a:ea typeface="Aptos"/>
              </a:rPr>
              <a:t>TECHNICAL PROTOTYPE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5"/>
          <p:cNvSpPr/>
          <p:nvPr/>
        </p:nvSpPr>
        <p:spPr>
          <a:xfrm>
            <a:off x="868680" y="2395800"/>
            <a:ext cx="388584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SmartRain Dashboard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6"/>
          <p:cNvSpPr/>
          <p:nvPr/>
        </p:nvSpPr>
        <p:spPr>
          <a:xfrm>
            <a:off x="868680" y="2853000"/>
            <a:ext cx="54403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A lightweight web application where a user enters or loads weather conditions and receives: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7"/>
          <p:cNvSpPr/>
          <p:nvPr/>
        </p:nvSpPr>
        <p:spPr>
          <a:xfrm>
            <a:off x="877680" y="3529440"/>
            <a:ext cx="228240" cy="22824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8"/>
          <p:cNvSpPr/>
          <p:nvPr/>
        </p:nvSpPr>
        <p:spPr>
          <a:xfrm>
            <a:off x="877680" y="3575160"/>
            <a:ext cx="22824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1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01</a:t>
            </a:r>
            <a:endParaRPr lang="en-US" sz="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9"/>
          <p:cNvSpPr/>
          <p:nvPr/>
        </p:nvSpPr>
        <p:spPr>
          <a:xfrm>
            <a:off x="1280160" y="3511440"/>
            <a:ext cx="44802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Predicted rainfall amount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10"/>
          <p:cNvSpPr/>
          <p:nvPr/>
        </p:nvSpPr>
        <p:spPr>
          <a:xfrm>
            <a:off x="877680" y="4169520"/>
            <a:ext cx="228240" cy="22824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11"/>
          <p:cNvSpPr/>
          <p:nvPr/>
        </p:nvSpPr>
        <p:spPr>
          <a:xfrm>
            <a:off x="877680" y="4215240"/>
            <a:ext cx="22824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1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12"/>
          <p:cNvSpPr/>
          <p:nvPr/>
        </p:nvSpPr>
        <p:spPr>
          <a:xfrm>
            <a:off x="1280160" y="4151520"/>
            <a:ext cx="44802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Fuzzy rainfall-risk category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13"/>
          <p:cNvSpPr/>
          <p:nvPr/>
        </p:nvSpPr>
        <p:spPr>
          <a:xfrm>
            <a:off x="877680" y="4809600"/>
            <a:ext cx="228240" cy="228240"/>
          </a:xfrm>
          <a:prstGeom prst="ellipse">
            <a:avLst/>
          </a:prstGeom>
          <a:solidFill>
            <a:srgbClr val="2F6D5B"/>
          </a:solidFill>
          <a:ln w="10160">
            <a:solidFill>
              <a:srgbClr val="2F6D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14"/>
          <p:cNvSpPr/>
          <p:nvPr/>
        </p:nvSpPr>
        <p:spPr>
          <a:xfrm>
            <a:off x="877680" y="4855320"/>
            <a:ext cx="22824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1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en-US" sz="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15"/>
          <p:cNvSpPr/>
          <p:nvPr/>
        </p:nvSpPr>
        <p:spPr>
          <a:xfrm>
            <a:off x="1280160" y="4791600"/>
            <a:ext cx="44802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Simple visual explanation of the result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16"/>
          <p:cNvSpPr/>
          <p:nvPr/>
        </p:nvSpPr>
        <p:spPr>
          <a:xfrm>
            <a:off x="868680" y="5449680"/>
            <a:ext cx="6172200" cy="360"/>
          </a:xfrm>
          <a:prstGeom prst="line">
            <a:avLst/>
          </a:prstGeom>
          <a:ln w="8890">
            <a:solidFill>
              <a:srgbClr val="C7C0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17"/>
          <p:cNvSpPr/>
          <p:nvPr/>
        </p:nvSpPr>
        <p:spPr>
          <a:xfrm>
            <a:off x="868680" y="5650920"/>
            <a:ext cx="169128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 spc="99">
                <a:solidFill>
                  <a:srgbClr val="B38A49"/>
                </a:solidFill>
                <a:effectLst/>
                <a:uFillTx/>
                <a:latin typeface="Aptos"/>
                <a:ea typeface="Aptos"/>
              </a:rPr>
              <a:t>INITIAL ARTICLE TITLE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18"/>
          <p:cNvSpPr/>
          <p:nvPr/>
        </p:nvSpPr>
        <p:spPr>
          <a:xfrm>
            <a:off x="2587680" y="5586840"/>
            <a:ext cx="4343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Intelligent Rainfall Prediction and Risk Assessment using ANN and Fuzzy Logic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19"/>
          <p:cNvSpPr/>
          <p:nvPr/>
        </p:nvSpPr>
        <p:spPr>
          <a:xfrm>
            <a:off x="7607880" y="1810440"/>
            <a:ext cx="3931560" cy="4278960"/>
          </a:xfrm>
          <a:prstGeom prst="roundRect">
            <a:avLst>
              <a:gd name="adj" fmla="val 1860"/>
            </a:avLst>
          </a:prstGeom>
          <a:solidFill>
            <a:srgbClr val="EAE7DE"/>
          </a:solidFill>
          <a:ln w="10160">
            <a:solidFill>
              <a:srgbClr val="D5CEC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20"/>
          <p:cNvSpPr/>
          <p:nvPr/>
        </p:nvSpPr>
        <p:spPr>
          <a:xfrm>
            <a:off x="7882200" y="2048400"/>
            <a:ext cx="18741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111">
                <a:solidFill>
                  <a:srgbClr val="B38A49"/>
                </a:solidFill>
                <a:effectLst/>
                <a:uFillTx/>
                <a:latin typeface="Aptos"/>
                <a:ea typeface="Aptos"/>
              </a:rPr>
              <a:t>VALUE PROPOSITION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21"/>
          <p:cNvSpPr/>
          <p:nvPr/>
        </p:nvSpPr>
        <p:spPr>
          <a:xfrm>
            <a:off x="7882200" y="2578680"/>
            <a:ext cx="6030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1" u="none" strike="noStrike" spc="91">
                <a:solidFill>
                  <a:srgbClr val="2F6D5B"/>
                </a:solidFill>
                <a:effectLst/>
                <a:uFillTx/>
                <a:latin typeface="Aptos"/>
                <a:ea typeface="Aptos"/>
              </a:rPr>
              <a:t>WHO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22"/>
          <p:cNvSpPr/>
          <p:nvPr/>
        </p:nvSpPr>
        <p:spPr>
          <a:xfrm>
            <a:off x="8641080" y="2551320"/>
            <a:ext cx="2468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Farmers • water planners • local planners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23"/>
          <p:cNvSpPr/>
          <p:nvPr/>
        </p:nvSpPr>
        <p:spPr>
          <a:xfrm>
            <a:off x="7882200" y="3282840"/>
            <a:ext cx="6030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1" u="none" strike="noStrike" spc="91">
                <a:solidFill>
                  <a:srgbClr val="2F6D5B"/>
                </a:solidFill>
                <a:effectLst/>
                <a:uFillTx/>
                <a:latin typeface="Aptos"/>
                <a:ea typeface="Aptos"/>
              </a:rPr>
              <a:t>WHAT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24"/>
          <p:cNvSpPr/>
          <p:nvPr/>
        </p:nvSpPr>
        <p:spPr>
          <a:xfrm>
            <a:off x="8641080" y="3255120"/>
            <a:ext cx="2468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Prediction + interpretable risk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25"/>
          <p:cNvSpPr/>
          <p:nvPr/>
        </p:nvSpPr>
        <p:spPr>
          <a:xfrm>
            <a:off x="7882200" y="3986640"/>
            <a:ext cx="6030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1" u="none" strike="noStrike" spc="91">
                <a:solidFill>
                  <a:srgbClr val="2F6D5B"/>
                </a:solidFill>
                <a:effectLst/>
                <a:uFillTx/>
                <a:latin typeface="Aptos"/>
                <a:ea typeface="Aptos"/>
              </a:rPr>
              <a:t>WHY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26"/>
          <p:cNvSpPr/>
          <p:nvPr/>
        </p:nvSpPr>
        <p:spPr>
          <a:xfrm>
            <a:off x="8641080" y="3959280"/>
            <a:ext cx="2468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A rainfall number becomes a decision signal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27"/>
          <p:cNvSpPr/>
          <p:nvPr/>
        </p:nvSpPr>
        <p:spPr>
          <a:xfrm>
            <a:off x="7882200" y="4690800"/>
            <a:ext cx="6030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1" u="none" strike="noStrike" spc="91">
                <a:solidFill>
                  <a:srgbClr val="2F6D5B"/>
                </a:solidFill>
                <a:effectLst/>
                <a:uFillTx/>
                <a:latin typeface="Aptos"/>
                <a:ea typeface="Aptos"/>
              </a:rPr>
              <a:t>NEXT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28"/>
          <p:cNvSpPr/>
          <p:nvPr/>
        </p:nvSpPr>
        <p:spPr>
          <a:xfrm>
            <a:off x="8641080" y="4663440"/>
            <a:ext cx="2468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Validate with experiments and compare against a baseline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29"/>
          <p:cNvSpPr/>
          <p:nvPr/>
        </p:nvSpPr>
        <p:spPr>
          <a:xfrm>
            <a:off x="7882200" y="5431680"/>
            <a:ext cx="804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1" u="none" strike="noStrike" spc="91">
                <a:solidFill>
                  <a:srgbClr val="B38A49"/>
                </a:solidFill>
                <a:effectLst/>
                <a:uFillTx/>
                <a:latin typeface="Aptos"/>
                <a:ea typeface="Aptos"/>
              </a:rPr>
              <a:t>Core idea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30"/>
          <p:cNvSpPr/>
          <p:nvPr/>
        </p:nvSpPr>
        <p:spPr>
          <a:xfrm>
            <a:off x="8705160" y="5367600"/>
            <a:ext cx="2331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Predict → interpret → support action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PlaceHolder 1"/>
          <p:cNvSpPr>
            <a:spLocks noGrp="1"/>
          </p:cNvSpPr>
          <p:nvPr>
            <p:ph type="sldNum" idx="12"/>
          </p:nvPr>
        </p:nvSpPr>
        <p:spPr>
          <a:xfrm>
            <a:off x="11685960" y="6565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7E786D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2FE1232-D2E7-476D-9BF2-12AA979A04CD}" type="slidenum">
              <a:rPr lang="en-US" sz="700" b="0" u="none" strike="noStrike">
                <a:solidFill>
                  <a:srgbClr val="7E786D"/>
                </a:solidFill>
                <a:effectLst/>
                <a:uFillTx/>
                <a:latin typeface="Aptos"/>
                <a:ea typeface="Aptos"/>
              </a:rPr>
              <a:t>8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Text 0"/>
          <p:cNvSpPr/>
          <p:nvPr/>
        </p:nvSpPr>
        <p:spPr>
          <a:xfrm>
            <a:off x="594360" y="384120"/>
            <a:ext cx="50288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 spc="150">
                <a:solidFill>
                  <a:srgbClr val="B38A49"/>
                </a:solidFill>
                <a:effectLst/>
                <a:uFillTx/>
                <a:latin typeface="Aptos"/>
                <a:ea typeface="Aptos"/>
              </a:rPr>
              <a:t>08  /  REFERENCES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1"/>
          <p:cNvSpPr/>
          <p:nvPr/>
        </p:nvSpPr>
        <p:spPr>
          <a:xfrm>
            <a:off x="594360" y="667440"/>
            <a:ext cx="1088100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D2722"/>
                </a:solidFill>
                <a:effectLst/>
                <a:uFillTx/>
                <a:latin typeface="Georgia"/>
                <a:ea typeface="Georgia"/>
              </a:rPr>
              <a:t>Selected sources supporting the proposal.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2"/>
          <p:cNvSpPr/>
          <p:nvPr/>
        </p:nvSpPr>
        <p:spPr>
          <a:xfrm>
            <a:off x="612720" y="1252800"/>
            <a:ext cx="10698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Research and background sources used for the problem, methodology and data context.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3"/>
          <p:cNvSpPr/>
          <p:nvPr/>
        </p:nvSpPr>
        <p:spPr>
          <a:xfrm>
            <a:off x="612720" y="1783080"/>
            <a:ext cx="10926720" cy="4343040"/>
          </a:xfrm>
          <a:prstGeom prst="roundRect">
            <a:avLst>
              <a:gd name="adj" fmla="val 1684"/>
            </a:avLst>
          </a:prstGeom>
          <a:solidFill>
            <a:srgbClr val="FBF8F1"/>
          </a:solidFill>
          <a:ln w="10160">
            <a:solidFill>
              <a:srgbClr val="C7C0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4"/>
          <p:cNvSpPr/>
          <p:nvPr/>
        </p:nvSpPr>
        <p:spPr>
          <a:xfrm>
            <a:off x="877680" y="2267640"/>
            <a:ext cx="200880" cy="200880"/>
          </a:xfrm>
          <a:prstGeom prst="ellipse">
            <a:avLst/>
          </a:prstGeom>
          <a:solidFill>
            <a:srgbClr val="B38A49"/>
          </a:solidFill>
          <a:ln w="10160">
            <a:solidFill>
              <a:srgbClr val="B38A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5"/>
          <p:cNvSpPr/>
          <p:nvPr/>
        </p:nvSpPr>
        <p:spPr>
          <a:xfrm>
            <a:off x="877680" y="2313360"/>
            <a:ext cx="200880" cy="7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en-US" sz="6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6"/>
          <p:cNvSpPr/>
          <p:nvPr/>
        </p:nvSpPr>
        <p:spPr>
          <a:xfrm>
            <a:off x="1243440" y="2221920"/>
            <a:ext cx="96008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India Meteorological Department. Observed Rainfall Features during the Southwest Monsoon 2025. Government of India.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7"/>
          <p:cNvSpPr/>
          <p:nvPr/>
        </p:nvSpPr>
        <p:spPr>
          <a:xfrm>
            <a:off x="877680" y="2926080"/>
            <a:ext cx="200880" cy="200880"/>
          </a:xfrm>
          <a:prstGeom prst="ellipse">
            <a:avLst/>
          </a:prstGeom>
          <a:solidFill>
            <a:srgbClr val="9CB8A8"/>
          </a:solidFill>
          <a:ln w="10160">
            <a:solidFill>
              <a:srgbClr val="9CB8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8"/>
          <p:cNvSpPr/>
          <p:nvPr/>
        </p:nvSpPr>
        <p:spPr>
          <a:xfrm>
            <a:off x="877680" y="2971800"/>
            <a:ext cx="200880" cy="7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6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9"/>
          <p:cNvSpPr/>
          <p:nvPr/>
        </p:nvSpPr>
        <p:spPr>
          <a:xfrm>
            <a:off x="1243440" y="2880360"/>
            <a:ext cx="96008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Abu Saleh, M., Rasel, H.M., &amp; Ray, B. (2024). A comprehensive review towards resilient rainfall forecasting models using artificial intelligence techniques. Green Technologies and Sustainability, 2(3), 100104. DOI: 10.1016/j.grets.2024.100104.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10"/>
          <p:cNvSpPr/>
          <p:nvPr/>
        </p:nvSpPr>
        <p:spPr>
          <a:xfrm>
            <a:off x="877680" y="3584520"/>
            <a:ext cx="200880" cy="200880"/>
          </a:xfrm>
          <a:prstGeom prst="ellipse">
            <a:avLst/>
          </a:prstGeom>
          <a:solidFill>
            <a:srgbClr val="9CB8A8"/>
          </a:solidFill>
          <a:ln w="10160">
            <a:solidFill>
              <a:srgbClr val="9CB8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11"/>
          <p:cNvSpPr/>
          <p:nvPr/>
        </p:nvSpPr>
        <p:spPr>
          <a:xfrm>
            <a:off x="877680" y="3630240"/>
            <a:ext cx="200880" cy="7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6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12"/>
          <p:cNvSpPr/>
          <p:nvPr/>
        </p:nvSpPr>
        <p:spPr>
          <a:xfrm>
            <a:off x="1243440" y="3538800"/>
            <a:ext cx="96008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Ruiz-Hurtado, A.F., Vargas-Franco, V., &amp; González-Salcedo, L.O. (2024). Neural Networks and Fuzzy Logic-Based Approaches for Precipitation Estimation: A Systematic Review. Ingeniería e Investigación, 44(3), e108609. DOI: 10.15446/ing.investig.108609.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13"/>
          <p:cNvSpPr/>
          <p:nvPr/>
        </p:nvSpPr>
        <p:spPr>
          <a:xfrm>
            <a:off x="877680" y="4242960"/>
            <a:ext cx="200880" cy="200880"/>
          </a:xfrm>
          <a:prstGeom prst="ellipse">
            <a:avLst/>
          </a:prstGeom>
          <a:solidFill>
            <a:srgbClr val="9CB8A8"/>
          </a:solidFill>
          <a:ln w="10160">
            <a:solidFill>
              <a:srgbClr val="9CB8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14"/>
          <p:cNvSpPr/>
          <p:nvPr/>
        </p:nvSpPr>
        <p:spPr>
          <a:xfrm>
            <a:off x="877680" y="4288680"/>
            <a:ext cx="200880" cy="7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4</a:t>
            </a:r>
            <a:endParaRPr lang="en-US" sz="6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15"/>
          <p:cNvSpPr/>
          <p:nvPr/>
        </p:nvSpPr>
        <p:spPr>
          <a:xfrm>
            <a:off x="1243440" y="4197240"/>
            <a:ext cx="96008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Weather Forecasting Using Artificial Neural Network (ANN): A Review. Procedia Computer Science, 241 (2024), 618–623. DOI: 10.1016/j.procs.2024.08.090.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16"/>
          <p:cNvSpPr/>
          <p:nvPr/>
        </p:nvSpPr>
        <p:spPr>
          <a:xfrm>
            <a:off x="877680" y="4901040"/>
            <a:ext cx="200880" cy="200880"/>
          </a:xfrm>
          <a:prstGeom prst="ellipse">
            <a:avLst/>
          </a:prstGeom>
          <a:solidFill>
            <a:srgbClr val="9CB8A8"/>
          </a:solidFill>
          <a:ln w="10160">
            <a:solidFill>
              <a:srgbClr val="9CB8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17"/>
          <p:cNvSpPr/>
          <p:nvPr/>
        </p:nvSpPr>
        <p:spPr>
          <a:xfrm>
            <a:off x="877680" y="4946760"/>
            <a:ext cx="200880" cy="7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5</a:t>
            </a:r>
            <a:endParaRPr lang="en-US" sz="6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18"/>
          <p:cNvSpPr/>
          <p:nvPr/>
        </p:nvSpPr>
        <p:spPr>
          <a:xfrm>
            <a:off x="1243440" y="4855320"/>
            <a:ext cx="96008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E756E"/>
                </a:solidFill>
                <a:effectLst/>
                <a:uFillTx/>
                <a:latin typeface="Aptos"/>
                <a:ea typeface="Aptos"/>
              </a:rPr>
              <a:t>Project Preparation Document. Rainfall Prediction and Risk Assessment — Soft Computing: ANN + Fuzzy Logic.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PlaceHolder 1"/>
          <p:cNvSpPr>
            <a:spLocks noGrp="1"/>
          </p:cNvSpPr>
          <p:nvPr>
            <p:ph type="sldNum" idx="13"/>
          </p:nvPr>
        </p:nvSpPr>
        <p:spPr>
          <a:xfrm>
            <a:off x="11685960" y="65653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7E786D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C8EF592-28B0-4DCB-BA30-274C1312A4AA}" type="slidenum">
              <a:rPr lang="en-US" sz="700" b="0" u="none" strike="noStrike">
                <a:solidFill>
                  <a:srgbClr val="7E786D"/>
                </a:solidFill>
                <a:effectLst/>
                <a:uFillTx/>
                <a:latin typeface="Aptos"/>
                <a:ea typeface="Aptos"/>
              </a:rPr>
              <a:t>9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1172</Words>
  <Application>Microsoft Office PowerPoint</Application>
  <PresentationFormat>Widescreen</PresentationFormat>
  <Paragraphs>262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Arial</vt:lpstr>
      <vt:lpstr>Georgia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BHANU PRAKASH POTLA</dc:creator>
  <cp:lastModifiedBy>BHANU PRAKASH POTLA</cp:lastModifiedBy>
  <cp:revision>1</cp:revision>
  <dcterms:modified xsi:type="dcterms:W3CDTF">2026-09-09T19:33:55Z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2026-09-09T19:22:20Z</dcterms:created>
  <dc:creator>Project Team</dc:creator>
  <dc:description/>
  <dc:language>en-US</dc:language>
  <cp:lastModifiedBy>Project Team</cp:lastModifiedBy>
  <dcterms:modified xsi:type="dcterms:W3CDTF">2026-09-09T19:22:20Z</dcterms:modified>
  <cp:revision>1</cp:revision>
  <dc:subject>Intelligent Rainfall Prediction and Risk Assessment</dc:subject>
  <dc:title>SmartRain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9</vt:r8>
  </property>
  <property fmtid="{D5CDD505-2E9C-101B-9397-08002B2CF9AE}" pid="3" name="PresentationFormat">
    <vt:lpwstr>On-screen Show (16:9)</vt:lpwstr>
  </property>
  <property fmtid="{D5CDD505-2E9C-101B-9397-08002B2CF9AE}" pid="4" name="Slides">
    <vt:r8>9</vt:r8>
  </property>
</Properties>
</file>